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33"/>
  </p:notesMasterIdLst>
  <p:sldIdLst>
    <p:sldId id="256" r:id="rId2"/>
    <p:sldId id="257" r:id="rId3"/>
    <p:sldId id="258" r:id="rId4"/>
    <p:sldId id="260" r:id="rId5"/>
    <p:sldId id="301" r:id="rId6"/>
    <p:sldId id="261" r:id="rId7"/>
    <p:sldId id="298" r:id="rId8"/>
    <p:sldId id="299" r:id="rId9"/>
    <p:sldId id="302" r:id="rId10"/>
    <p:sldId id="262" r:id="rId11"/>
    <p:sldId id="320" r:id="rId12"/>
    <p:sldId id="263" r:id="rId13"/>
    <p:sldId id="266" r:id="rId14"/>
    <p:sldId id="300" r:id="rId15"/>
    <p:sldId id="309" r:id="rId16"/>
    <p:sldId id="315" r:id="rId17"/>
    <p:sldId id="305" r:id="rId18"/>
    <p:sldId id="322" r:id="rId19"/>
    <p:sldId id="323" r:id="rId20"/>
    <p:sldId id="313" r:id="rId21"/>
    <p:sldId id="325" r:id="rId22"/>
    <p:sldId id="324" r:id="rId23"/>
    <p:sldId id="304" r:id="rId24"/>
    <p:sldId id="311" r:id="rId25"/>
    <p:sldId id="319" r:id="rId26"/>
    <p:sldId id="317" r:id="rId27"/>
    <p:sldId id="321" r:id="rId28"/>
    <p:sldId id="307" r:id="rId29"/>
    <p:sldId id="318" r:id="rId30"/>
    <p:sldId id="308" r:id="rId31"/>
    <p:sldId id="293" r:id="rId3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5" roundtripDataSignature="AMtx7mjSbhedNfCx3Iki5JZrUlNbGLRR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60D9745-7C38-4BDD-B7B4-6FD5B6A216A6}">
  <a:tblStyle styleId="{960D9745-7C38-4BDD-B7B4-6FD5B6A216A6}"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4660"/>
  </p:normalViewPr>
  <p:slideViewPr>
    <p:cSldViewPr snapToGrid="0">
      <p:cViewPr varScale="1">
        <p:scale>
          <a:sx n="68" d="100"/>
          <a:sy n="68" d="100"/>
        </p:scale>
        <p:origin x="84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2271868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 name="Google Shape;3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 name="Google Shape;3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pPr marL="0" lvl="0" indent="0" algn="r" rtl="0">
                <a:lnSpc>
                  <a:spcPct val="100000"/>
                </a:lnSpc>
                <a:spcBef>
                  <a:spcPts val="0"/>
                </a:spcBef>
                <a:spcAft>
                  <a:spcPts val="0"/>
                </a:spcAft>
                <a:buSzPts val="1400"/>
                <a:buNone/>
              </a:p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 name="Google Shape;4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 name="Google Shape;5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 name="Google Shape;6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70D25203-9798-081B-54FB-BE69DFE8BF35}"/>
            </a:ext>
          </a:extLst>
        </p:cNvPr>
        <p:cNvGrpSpPr/>
        <p:nvPr/>
      </p:nvGrpSpPr>
      <p:grpSpPr>
        <a:xfrm>
          <a:off x="0" y="0"/>
          <a:ext cx="0" cy="0"/>
          <a:chOff x="0" y="0"/>
          <a:chExt cx="0" cy="0"/>
        </a:xfrm>
      </p:grpSpPr>
      <p:sp>
        <p:nvSpPr>
          <p:cNvPr id="64" name="Google Shape;64;p13:notes">
            <a:extLst>
              <a:ext uri="{FF2B5EF4-FFF2-40B4-BE49-F238E27FC236}">
                <a16:creationId xmlns:a16="http://schemas.microsoft.com/office/drawing/2014/main" id="{4AE861DF-41E7-536D-657E-F895D102F02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 name="Google Shape;65;p13:notes">
            <a:extLst>
              <a:ext uri="{FF2B5EF4-FFF2-40B4-BE49-F238E27FC236}">
                <a16:creationId xmlns:a16="http://schemas.microsoft.com/office/drawing/2014/main" id="{DE9590D4-A0B7-A73F-7542-38B10675AD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4364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 name="Google Shape;7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 name="Google Shape;7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 name="Google Shape;7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 name="Google Shape;9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27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527362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5" name="Google Shape;345;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Times New Roman"/>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1" name="Google Shape;2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8"/>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9"/>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9"/>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Times New Roman"/>
              <a:buNone/>
              <a:defRPr sz="44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7"/>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800" b="1" i="0" u="none" strike="noStrike" cap="none">
                <a:solidFill>
                  <a:srgbClr val="C77327"/>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pic>
        <p:nvPicPr>
          <p:cNvPr id="15" name="Google Shape;15;p7"/>
          <p:cNvPicPr preferRelativeResize="0"/>
          <p:nvPr/>
        </p:nvPicPr>
        <p:blipFill rotWithShape="1">
          <a:blip r:embed="rId4">
            <a:alphaModFix/>
          </a:blip>
          <a:srcRect/>
          <a:stretch/>
        </p:blipFill>
        <p:spPr>
          <a:xfrm>
            <a:off x="317151" y="318062"/>
            <a:ext cx="1175746" cy="1270065"/>
          </a:xfrm>
          <a:prstGeom prst="rect">
            <a:avLst/>
          </a:prstGeom>
          <a:noFill/>
          <a:ln>
            <a:noFill/>
          </a:ln>
        </p:spPr>
      </p:pic>
      <p:sp>
        <p:nvSpPr>
          <p:cNvPr id="16" name="Google Shape;16;p7"/>
          <p:cNvSpPr/>
          <p:nvPr/>
        </p:nvSpPr>
        <p:spPr>
          <a:xfrm>
            <a:off x="1492898" y="1548882"/>
            <a:ext cx="9860901" cy="141805"/>
          </a:xfrm>
          <a:prstGeom prst="roundRect">
            <a:avLst>
              <a:gd name="adj" fmla="val 16667"/>
            </a:avLst>
          </a:prstGeom>
          <a:solidFill>
            <a:srgbClr val="DA7214"/>
          </a:solidFill>
          <a:ln w="12700" cap="flat" cmpd="sng">
            <a:solidFill>
              <a:srgbClr val="FFC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7" name="Google Shape;17;p7"/>
          <p:cNvSpPr/>
          <p:nvPr/>
        </p:nvSpPr>
        <p:spPr>
          <a:xfrm>
            <a:off x="317150" y="1541064"/>
            <a:ext cx="1175749" cy="182000"/>
          </a:xfrm>
          <a:prstGeom prst="chevron">
            <a:avLst>
              <a:gd name="adj" fmla="val 50000"/>
            </a:avLst>
          </a:prstGeom>
          <a:solidFill>
            <a:srgbClr val="00B0F0"/>
          </a:solidFill>
          <a:ln w="12700" cap="flat" cmpd="sng">
            <a:solidFill>
              <a:srgbClr val="DA72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pmc.ncbi.nlm.nih.gov/articles/PMC8872524/"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doi.org/10.5281/zenodo.10013090"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
        <p:cNvGrpSpPr/>
        <p:nvPr/>
      </p:nvGrpSpPr>
      <p:grpSpPr>
        <a:xfrm>
          <a:off x="0" y="0"/>
          <a:ext cx="0" cy="0"/>
          <a:chOff x="0" y="0"/>
          <a:chExt cx="0" cy="0"/>
        </a:xfrm>
      </p:grpSpPr>
      <p:sp>
        <p:nvSpPr>
          <p:cNvPr id="35" name="Google Shape;35;p1"/>
          <p:cNvSpPr txBox="1">
            <a:spLocks noGrp="1"/>
          </p:cNvSpPr>
          <p:nvPr>
            <p:ph type="ctrTitle"/>
          </p:nvPr>
        </p:nvSpPr>
        <p:spPr>
          <a:xfrm>
            <a:off x="1670754" y="2359744"/>
            <a:ext cx="8850492" cy="1258528"/>
          </a:xfrm>
          <a:prstGeom prst="rect">
            <a:avLst/>
          </a:prstGeom>
          <a:noFill/>
          <a:ln>
            <a:noFill/>
          </a:ln>
        </p:spPr>
        <p:txBody>
          <a:bodyPr spcFirstLastPara="1" wrap="square" lIns="91425" tIns="45700" rIns="91425" bIns="45700" anchor="b" anchorCtr="0">
            <a:normAutofit fontScale="90000"/>
          </a:bodyPr>
          <a:lstStyle/>
          <a:p>
            <a:pPr>
              <a:lnSpc>
                <a:spcPct val="100000"/>
              </a:lnSpc>
              <a:buSzPct val="166666"/>
            </a:pPr>
            <a:r>
              <a:rPr lang="en-US" altLang="en-IN" sz="4000" b="1" dirty="0">
                <a:latin typeface="Times New Roman" panose="02020603050405020304" pitchFamily="18" charset="0"/>
                <a:cs typeface="Times New Roman" panose="02020603050405020304" pitchFamily="18" charset="0"/>
              </a:rPr>
              <a:t>                                                                                         HEART RATE ANALYSIS USING </a:t>
            </a:r>
            <a:r>
              <a:rPr lang="en-IN" altLang="en-IN" sz="4000" b="1" dirty="0">
                <a:latin typeface="Times New Roman" panose="02020603050405020304" pitchFamily="18" charset="0"/>
                <a:cs typeface="Times New Roman" panose="02020603050405020304" pitchFamily="18" charset="0"/>
              </a:rPr>
              <a:t>ARIMA </a:t>
            </a:r>
            <a:r>
              <a:rPr lang="en-US" altLang="en-IN" sz="4000" b="1" dirty="0">
                <a:latin typeface="Times New Roman" panose="02020603050405020304" pitchFamily="18" charset="0"/>
                <a:cs typeface="Times New Roman" panose="02020603050405020304" pitchFamily="18" charset="0"/>
              </a:rPr>
              <a:t>WITH LIVE LOCATION AND AI CHATBOT</a:t>
            </a:r>
            <a:endParaRPr sz="4000" b="1" dirty="0">
              <a:latin typeface="Times New Roman"/>
              <a:ea typeface="Times New Roman"/>
              <a:cs typeface="Times New Roman"/>
              <a:sym typeface="Times New Roman"/>
            </a:endParaRPr>
          </a:p>
        </p:txBody>
      </p:sp>
      <p:sp>
        <p:nvSpPr>
          <p:cNvPr id="36" name="Google Shape;36;p1"/>
          <p:cNvSpPr txBox="1">
            <a:spLocks noGrp="1"/>
          </p:cNvSpPr>
          <p:nvPr>
            <p:ph type="subTitle" idx="1"/>
          </p:nvPr>
        </p:nvSpPr>
        <p:spPr>
          <a:xfrm>
            <a:off x="6956612" y="3781585"/>
            <a:ext cx="4568573" cy="2101017"/>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1000"/>
              </a:spcBef>
              <a:spcAft>
                <a:spcPts val="0"/>
              </a:spcAft>
              <a:buClr>
                <a:schemeClr val="dk1"/>
              </a:buClr>
              <a:buSzPts val="2400"/>
              <a:buNone/>
            </a:pPr>
            <a:r>
              <a:rPr lang="en-US" sz="1800" b="1" dirty="0">
                <a:solidFill>
                  <a:schemeClr val="dk1"/>
                </a:solidFill>
                <a:latin typeface="Times New Roman"/>
                <a:ea typeface="Times New Roman"/>
                <a:cs typeface="Times New Roman"/>
                <a:sym typeface="Times New Roman"/>
              </a:rPr>
              <a:t>By : </a:t>
            </a:r>
          </a:p>
          <a:p>
            <a:pPr marL="0" lvl="0" indent="0" algn="just" rtl="0">
              <a:lnSpc>
                <a:spcPct val="90000"/>
              </a:lnSpc>
              <a:spcBef>
                <a:spcPts val="1000"/>
              </a:spcBef>
              <a:spcAft>
                <a:spcPts val="0"/>
              </a:spcAft>
              <a:buClr>
                <a:schemeClr val="dk1"/>
              </a:buClr>
              <a:buSzPts val="2400"/>
              <a:buNone/>
            </a:pPr>
            <a:r>
              <a:rPr lang="en-US" sz="1800" b="1" dirty="0">
                <a:latin typeface="Times New Roman"/>
                <a:ea typeface="Times New Roman"/>
                <a:cs typeface="Times New Roman"/>
                <a:sym typeface="Times New Roman"/>
              </a:rPr>
              <a:t>Team no:8</a:t>
            </a:r>
            <a:endParaRPr lang="en-US" sz="1800" b="1" dirty="0">
              <a:solidFill>
                <a:schemeClr val="dk1"/>
              </a:solidFill>
              <a:latin typeface="Times New Roman"/>
              <a:ea typeface="Times New Roman"/>
              <a:cs typeface="Times New Roman"/>
              <a:sym typeface="Times New Roman"/>
            </a:endParaRPr>
          </a:p>
          <a:p>
            <a:pPr algn="just"/>
            <a:r>
              <a:rPr lang="en-US" sz="1800" dirty="0" err="1"/>
              <a:t>P.Vaishnavi</a:t>
            </a:r>
            <a:r>
              <a:rPr lang="en-IN" sz="1800" dirty="0"/>
              <a:t>-22911A35</a:t>
            </a:r>
            <a:r>
              <a:rPr lang="en-US" sz="1800" dirty="0"/>
              <a:t>42</a:t>
            </a:r>
            <a:endParaRPr lang="en-IN" sz="1800" dirty="0"/>
          </a:p>
          <a:p>
            <a:pPr algn="just"/>
            <a:r>
              <a:rPr lang="en-IN" sz="1800" dirty="0"/>
              <a:t>P.Vignesh-22911A35</a:t>
            </a:r>
            <a:r>
              <a:rPr lang="en-US" altLang="en-IN" sz="1800" dirty="0"/>
              <a:t>43</a:t>
            </a:r>
            <a:endParaRPr lang="en-IN" sz="1800" dirty="0"/>
          </a:p>
          <a:p>
            <a:pPr algn="just"/>
            <a:r>
              <a:rPr lang="en-US" sz="1800" dirty="0" err="1"/>
              <a:t>A.Santhosh</a:t>
            </a:r>
            <a:r>
              <a:rPr lang="en-IN" sz="1800" dirty="0"/>
              <a:t>-22911A35</a:t>
            </a:r>
            <a:r>
              <a:rPr lang="en-US" sz="1800" dirty="0"/>
              <a:t>04</a:t>
            </a:r>
            <a:endParaRPr lang="en-US" altLang="en-IN" sz="1800" dirty="0"/>
          </a:p>
          <a:p>
            <a:pPr algn="just"/>
            <a:r>
              <a:rPr lang="en-US" altLang="en-IN" sz="1800" dirty="0"/>
              <a:t>D.Abhishek-23915A3502</a:t>
            </a:r>
            <a:endParaRPr lang="en-IN" sz="1800" dirty="0"/>
          </a:p>
          <a:p>
            <a:pPr marL="0" lvl="0" indent="0" algn="just" rtl="0">
              <a:lnSpc>
                <a:spcPct val="90000"/>
              </a:lnSpc>
              <a:spcBef>
                <a:spcPts val="1000"/>
              </a:spcBef>
              <a:spcAft>
                <a:spcPts val="0"/>
              </a:spcAft>
              <a:buClr>
                <a:schemeClr val="dk1"/>
              </a:buClr>
              <a:buSzPts val="2400"/>
              <a:buNone/>
            </a:pPr>
            <a:endParaRPr lang="en-US" sz="1800" b="1" dirty="0">
              <a:latin typeface="Times New Roman"/>
              <a:cs typeface="Times New Roman"/>
              <a:sym typeface="Times New Roman"/>
            </a:endParaRPr>
          </a:p>
          <a:p>
            <a:pPr marL="0" lvl="0" indent="0" algn="just" rtl="0">
              <a:lnSpc>
                <a:spcPct val="90000"/>
              </a:lnSpc>
              <a:spcBef>
                <a:spcPts val="1000"/>
              </a:spcBef>
              <a:spcAft>
                <a:spcPts val="0"/>
              </a:spcAft>
              <a:buClr>
                <a:schemeClr val="dk1"/>
              </a:buClr>
              <a:buSzPts val="2400"/>
              <a:buNone/>
            </a:pPr>
            <a:endParaRPr dirty="0"/>
          </a:p>
        </p:txBody>
      </p:sp>
      <p:sp>
        <p:nvSpPr>
          <p:cNvPr id="37" name="Google Shape;37;p1"/>
          <p:cNvSpPr txBox="1"/>
          <p:nvPr/>
        </p:nvSpPr>
        <p:spPr>
          <a:xfrm>
            <a:off x="1500290" y="327458"/>
            <a:ext cx="9853510" cy="1371543"/>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02060"/>
              </a:buClr>
              <a:buSzPts val="3600"/>
              <a:buFont typeface="Times New Roman"/>
              <a:buNone/>
            </a:pPr>
            <a:r>
              <a:rPr lang="en-US" sz="3500" b="0" i="0" u="none" strike="noStrike" cap="none" dirty="0">
                <a:solidFill>
                  <a:srgbClr val="002060"/>
                </a:solidFill>
                <a:latin typeface="Times New Roman"/>
                <a:ea typeface="Times New Roman"/>
                <a:cs typeface="Times New Roman"/>
                <a:sym typeface="Times New Roman"/>
              </a:rPr>
              <a:t>VIDYA JYOTHI INSTITUTE OF TECHNOLOGY </a:t>
            </a:r>
            <a:r>
              <a:rPr lang="en-US" sz="4300" b="0" i="0" u="none" strike="noStrike" cap="none" dirty="0">
                <a:solidFill>
                  <a:srgbClr val="002060"/>
                </a:solidFill>
                <a:latin typeface="Times New Roman"/>
                <a:ea typeface="Times New Roman"/>
                <a:cs typeface="Times New Roman"/>
                <a:sym typeface="Times New Roman"/>
              </a:rPr>
              <a:t>(Autonomous)</a:t>
            </a:r>
            <a:endParaRPr sz="4300" b="0" i="0" u="none" strike="noStrike" cap="none" dirty="0">
              <a:solidFill>
                <a:srgbClr val="002060"/>
              </a:solidFill>
              <a:latin typeface="Times New Roman"/>
              <a:ea typeface="Times New Roman"/>
              <a:cs typeface="Times New Roman"/>
              <a:sym typeface="Times New Roman"/>
            </a:endParaRPr>
          </a:p>
        </p:txBody>
      </p:sp>
      <p:sp>
        <p:nvSpPr>
          <p:cNvPr id="38" name="Google Shape;38;p1"/>
          <p:cNvSpPr txBox="1"/>
          <p:nvPr/>
        </p:nvSpPr>
        <p:spPr>
          <a:xfrm>
            <a:off x="1228165" y="3980329"/>
            <a:ext cx="4007225" cy="1902273"/>
          </a:xfrm>
          <a:prstGeom prst="rect">
            <a:avLst/>
          </a:prstGeom>
          <a:noFill/>
          <a:ln>
            <a:noFill/>
          </a:ln>
        </p:spPr>
        <p:txBody>
          <a:bodyPr spcFirstLastPara="1" wrap="square" lIns="91425" tIns="45700" rIns="91425" bIns="45700" anchor="t" anchorCtr="0">
            <a:normAutofit/>
          </a:bodyPr>
          <a:lstStyle/>
          <a:p>
            <a:pPr marL="0" marR="0" lvl="0" indent="0" algn="just" rtl="0">
              <a:lnSpc>
                <a:spcPct val="90000"/>
              </a:lnSpc>
              <a:spcBef>
                <a:spcPts val="1000"/>
              </a:spcBef>
              <a:spcAft>
                <a:spcPts val="0"/>
              </a:spcAft>
              <a:buClr>
                <a:schemeClr val="dk1"/>
              </a:buClr>
              <a:buSzPts val="2400"/>
              <a:buFont typeface="Arial"/>
              <a:buNone/>
            </a:pPr>
            <a:r>
              <a:rPr lang="en-US" sz="1800" b="1" i="0" u="none" strike="noStrike" cap="none" dirty="0">
                <a:solidFill>
                  <a:schemeClr val="dk1"/>
                </a:solidFill>
                <a:latin typeface="Times New Roman"/>
                <a:ea typeface="Times New Roman"/>
                <a:cs typeface="Times New Roman"/>
                <a:sym typeface="Times New Roman"/>
              </a:rPr>
              <a:t>Under the guidance of:</a:t>
            </a:r>
          </a:p>
          <a:p>
            <a:pPr marL="0" marR="0" lvl="0" indent="0" algn="just" rtl="0">
              <a:lnSpc>
                <a:spcPct val="90000"/>
              </a:lnSpc>
              <a:spcBef>
                <a:spcPts val="1000"/>
              </a:spcBef>
              <a:spcAft>
                <a:spcPts val="0"/>
              </a:spcAft>
              <a:buClr>
                <a:schemeClr val="dk1"/>
              </a:buClr>
              <a:buSzPts val="2400"/>
              <a:buFont typeface="Arial"/>
              <a:buNone/>
            </a:pPr>
            <a:r>
              <a:rPr lang="en-US" sz="1800" dirty="0">
                <a:solidFill>
                  <a:schemeClr val="dk1"/>
                </a:solidFill>
                <a:latin typeface="Times New Roman"/>
                <a:cs typeface="Times New Roman"/>
                <a:sym typeface="Times New Roman"/>
              </a:rPr>
              <a:t>Mrs. </a:t>
            </a:r>
            <a:r>
              <a:rPr lang="en-US" sz="1800" dirty="0" err="1">
                <a:solidFill>
                  <a:schemeClr val="dk1"/>
                </a:solidFill>
                <a:latin typeface="Times New Roman"/>
                <a:cs typeface="Times New Roman"/>
                <a:sym typeface="Times New Roman"/>
              </a:rPr>
              <a:t>K.Santhipriya</a:t>
            </a:r>
            <a:endParaRPr lang="en-US" sz="1800" dirty="0">
              <a:solidFill>
                <a:schemeClr val="dk1"/>
              </a:solidFill>
              <a:latin typeface="Times New Roman"/>
              <a:cs typeface="Times New Roman"/>
              <a:sym typeface="Times New Roman"/>
            </a:endParaRPr>
          </a:p>
          <a:p>
            <a:pPr marL="0" marR="0" lvl="0" indent="0" algn="just" rtl="0">
              <a:lnSpc>
                <a:spcPct val="90000"/>
              </a:lnSpc>
              <a:spcBef>
                <a:spcPts val="1000"/>
              </a:spcBef>
              <a:spcAft>
                <a:spcPts val="0"/>
              </a:spcAft>
              <a:buClr>
                <a:schemeClr val="dk1"/>
              </a:buClr>
              <a:buSzPts val="2400"/>
              <a:buFont typeface="Arial"/>
              <a:buNone/>
            </a:pPr>
            <a:r>
              <a:rPr lang="en-US" sz="1800" dirty="0">
                <a:solidFill>
                  <a:schemeClr val="dk1"/>
                </a:solidFill>
                <a:latin typeface="Times New Roman"/>
                <a:cs typeface="Times New Roman"/>
                <a:sym typeface="Times New Roman"/>
              </a:rPr>
              <a:t>Assistant </a:t>
            </a:r>
            <a:r>
              <a:rPr lang="en-US" sz="1800" dirty="0" err="1">
                <a:solidFill>
                  <a:schemeClr val="dk1"/>
                </a:solidFill>
                <a:latin typeface="Times New Roman"/>
                <a:cs typeface="Times New Roman"/>
                <a:sym typeface="Times New Roman"/>
              </a:rPr>
              <a:t>Professer</a:t>
            </a:r>
            <a:r>
              <a:rPr lang="en-US" sz="1800" dirty="0">
                <a:solidFill>
                  <a:schemeClr val="dk1"/>
                </a:solidFill>
                <a:latin typeface="Times New Roman"/>
                <a:cs typeface="Times New Roman"/>
                <a:sym typeface="Times New Roman"/>
              </a:rPr>
              <a:t> </a:t>
            </a:r>
            <a:endParaRPr dirty="0"/>
          </a:p>
        </p:txBody>
      </p:sp>
      <p:sp>
        <p:nvSpPr>
          <p:cNvPr id="39" name="Google Shape;39;p1"/>
          <p:cNvSpPr txBox="1">
            <a:spLocks noGrp="1"/>
          </p:cNvSpPr>
          <p:nvPr>
            <p:ph type="ftr" idx="11"/>
          </p:nvPr>
        </p:nvSpPr>
        <p:spPr>
          <a:xfrm>
            <a:off x="4041684" y="6343686"/>
            <a:ext cx="4111716" cy="377790"/>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2"/>
          <p:cNvSpPr txBox="1">
            <a:spLocks noGrp="1"/>
          </p:cNvSpPr>
          <p:nvPr>
            <p:ph type="title"/>
          </p:nvPr>
        </p:nvSpPr>
        <p:spPr>
          <a:xfrm>
            <a:off x="1492898" y="338231"/>
            <a:ext cx="986090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dirty="0"/>
              <a:t>Problem Statement</a:t>
            </a:r>
            <a:endParaRPr dirty="0"/>
          </a:p>
        </p:txBody>
      </p:sp>
      <p:sp>
        <p:nvSpPr>
          <p:cNvPr id="45" name="Google Shape;45;p2"/>
          <p:cNvSpPr txBox="1">
            <a:spLocks noGrp="1"/>
          </p:cNvSpPr>
          <p:nvPr>
            <p:ph type="body" idx="1"/>
          </p:nvPr>
        </p:nvSpPr>
        <p:spPr>
          <a:xfrm>
            <a:off x="770966" y="1990165"/>
            <a:ext cx="10284962" cy="3899647"/>
          </a:xfrm>
          <a:prstGeom prst="rect">
            <a:avLst/>
          </a:prstGeom>
          <a:noFill/>
          <a:ln>
            <a:noFill/>
          </a:ln>
        </p:spPr>
        <p:txBody>
          <a:bodyPr spcFirstLastPara="1" wrap="square" lIns="91425" tIns="45700" rIns="91425" bIns="45700" anchor="t" anchorCtr="0">
            <a:normAutofit/>
          </a:bodyPr>
          <a:lstStyle/>
          <a:p>
            <a:pPr algn="just">
              <a:buSzPct val="64864"/>
            </a:pPr>
            <a:r>
              <a:rPr lang="en-US" sz="2400" dirty="0">
                <a:latin typeface="Times New Roman" pitchFamily="18" charset="0"/>
                <a:cs typeface="Times New Roman" pitchFamily="18" charset="0"/>
              </a:rPr>
              <a:t>Continuous heart rate monitoring is essential for detecting cardiac abnormalities, stress levels, and fitness tracking.</a:t>
            </a:r>
          </a:p>
          <a:p>
            <a:pPr algn="just">
              <a:buSzPct val="64864"/>
            </a:pPr>
            <a:r>
              <a:rPr lang="en-US" sz="2400" dirty="0">
                <a:latin typeface="Times New Roman" pitchFamily="18" charset="0"/>
                <a:cs typeface="Times New Roman" pitchFamily="18" charset="0"/>
              </a:rPr>
              <a:t> Traditional heart rate measurement methods are often invasive or require clinical supervision. </a:t>
            </a:r>
          </a:p>
          <a:p>
            <a:pPr algn="just">
              <a:buSzPct val="64864"/>
            </a:pPr>
            <a:r>
              <a:rPr lang="en-US" sz="2400" dirty="0">
                <a:latin typeface="Times New Roman" pitchFamily="18" charset="0"/>
                <a:cs typeface="Times New Roman" pitchFamily="18" charset="0"/>
              </a:rPr>
              <a:t>This project aims to develop a real-time heart rate monitoring system using sensor data, enabling non-invasive, real-time health tracking and early detection of irregularities.</a:t>
            </a:r>
            <a:endParaRPr sz="2400" dirty="0">
              <a:solidFill>
                <a:schemeClr val="dk1"/>
              </a:solidFill>
              <a:latin typeface="Times New Roman" pitchFamily="18" charset="0"/>
              <a:ea typeface="Times New Roman"/>
              <a:cs typeface="Times New Roman" pitchFamily="18" charset="0"/>
              <a:sym typeface="Times New Roman"/>
            </a:endParaRPr>
          </a:p>
        </p:txBody>
      </p:sp>
      <p:sp>
        <p:nvSpPr>
          <p:cNvPr id="46" name="Google Shape;4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2</a:t>
            </a:fld>
            <a:endParaRPr/>
          </a:p>
        </p:txBody>
      </p:sp>
      <p:sp>
        <p:nvSpPr>
          <p:cNvPr id="47" name="Google Shape;47;p2"/>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3"/>
          <p:cNvSpPr txBox="1">
            <a:spLocks noGrp="1"/>
          </p:cNvSpPr>
          <p:nvPr>
            <p:ph type="title"/>
          </p:nvPr>
        </p:nvSpPr>
        <p:spPr>
          <a:xfrm>
            <a:off x="857630" y="192500"/>
            <a:ext cx="986090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a:t>Abstract</a:t>
            </a:r>
            <a:endParaRPr/>
          </a:p>
        </p:txBody>
      </p:sp>
      <p:sp>
        <p:nvSpPr>
          <p:cNvPr id="53" name="Google Shape;53;p3"/>
          <p:cNvSpPr txBox="1">
            <a:spLocks noGrp="1"/>
          </p:cNvSpPr>
          <p:nvPr>
            <p:ph type="body" idx="1"/>
          </p:nvPr>
        </p:nvSpPr>
        <p:spPr>
          <a:xfrm>
            <a:off x="69070" y="1518063"/>
            <a:ext cx="11559941" cy="5610075"/>
          </a:xfrm>
          <a:prstGeom prst="rect">
            <a:avLst/>
          </a:prstGeom>
          <a:noFill/>
          <a:ln>
            <a:noFill/>
          </a:ln>
        </p:spPr>
        <p:txBody>
          <a:bodyPr spcFirstLastPara="1" wrap="square" lIns="91425" tIns="45700" rIns="91425" bIns="45700" anchor="ctr" anchorCtr="0">
            <a:noAutofit/>
          </a:bodyPr>
          <a:lstStyle/>
          <a:p>
            <a:pPr marL="114300" indent="0" algn="just">
              <a:lnSpc>
                <a:spcPct val="115000"/>
              </a:lnSpc>
              <a:spcAft>
                <a:spcPts val="800"/>
              </a:spcAft>
              <a:buNone/>
            </a:pPr>
            <a:r>
              <a:rPr lang="en-US" sz="2000" dirty="0">
                <a:latin typeface="Times New Roman" pitchFamily="18" charset="0"/>
                <a:cs typeface="Times New Roman" pitchFamily="18" charset="0"/>
              </a:rPr>
              <a:t>This project focuses on developing an AI-driven heart rate monitoring system using real-time series data(ARIMA). The system utilizes a PPG (</a:t>
            </a:r>
            <a:r>
              <a:rPr lang="en-US" sz="2000" dirty="0" err="1">
                <a:latin typeface="Times New Roman" pitchFamily="18" charset="0"/>
                <a:cs typeface="Times New Roman" pitchFamily="18" charset="0"/>
              </a:rPr>
              <a:t>Photoplethysmography</a:t>
            </a:r>
            <a:r>
              <a:rPr lang="en-US" sz="2000" dirty="0">
                <a:latin typeface="Times New Roman" pitchFamily="18" charset="0"/>
                <a:cs typeface="Times New Roman" pitchFamily="18" charset="0"/>
              </a:rPr>
              <a:t>) sensor or an ECG sensor to collect heart rate signals. The collected data is processed using machine learning algorithms to detect patterns and anomalies. The analysis includes heart rate variability (HRV), stress detection, and potential arrhythmia </a:t>
            </a:r>
            <a:r>
              <a:rPr lang="en-US" sz="2000" dirty="0" err="1">
                <a:latin typeface="Times New Roman" pitchFamily="18" charset="0"/>
                <a:cs typeface="Times New Roman" pitchFamily="18" charset="0"/>
              </a:rPr>
              <a:t>identification.The</a:t>
            </a:r>
            <a:r>
              <a:rPr lang="en-US" sz="2000" dirty="0">
                <a:latin typeface="Times New Roman" pitchFamily="18" charset="0"/>
                <a:cs typeface="Times New Roman" pitchFamily="18" charset="0"/>
              </a:rPr>
              <a:t> proposed system can be integrated into wearable devices for continuous monitoring, providing a cost-effective and efficient health tracking </a:t>
            </a:r>
            <a:r>
              <a:rPr lang="en-US" sz="2000" dirty="0" err="1">
                <a:latin typeface="Times New Roman" pitchFamily="18" charset="0"/>
                <a:cs typeface="Times New Roman" pitchFamily="18" charset="0"/>
              </a:rPr>
              <a:t>solution.Real</a:t>
            </a:r>
            <a:r>
              <a:rPr lang="en-US" sz="2000" dirty="0">
                <a:latin typeface="Times New Roman" pitchFamily="18" charset="0"/>
                <a:cs typeface="Times New Roman" pitchFamily="18" charset="0"/>
              </a:rPr>
              <a:t>-time Heart Rate Display (BPM), AND A CHATBOT WHICH GIVE YOU A SUGGESTION ON YOUR DIET AND ALERT YOU BY SEND NOTIFICSTION AND LIVE </a:t>
            </a:r>
            <a:r>
              <a:rPr lang="en-US" sz="2000" dirty="0" err="1">
                <a:latin typeface="Times New Roman" pitchFamily="18" charset="0"/>
                <a:cs typeface="Times New Roman" pitchFamily="18" charset="0"/>
              </a:rPr>
              <a:t>LOCATION,Stress</a:t>
            </a:r>
            <a:r>
              <a:rPr lang="en-US" sz="2000" dirty="0">
                <a:latin typeface="Times New Roman" pitchFamily="18" charset="0"/>
                <a:cs typeface="Times New Roman" pitchFamily="18" charset="0"/>
              </a:rPr>
              <a:t> Level Indicator with Progress </a:t>
            </a:r>
            <a:r>
              <a:rPr lang="en-US" sz="2000" dirty="0" err="1">
                <a:latin typeface="Times New Roman" pitchFamily="18" charset="0"/>
                <a:cs typeface="Times New Roman" pitchFamily="18" charset="0"/>
              </a:rPr>
              <a:t>Bar,Heart</a:t>
            </a:r>
            <a:r>
              <a:rPr lang="en-US" sz="2000" dirty="0">
                <a:latin typeface="Times New Roman" pitchFamily="18" charset="0"/>
                <a:cs typeface="Times New Roman" pitchFamily="18" charset="0"/>
              </a:rPr>
              <a:t> Rate Trend Line </a:t>
            </a:r>
            <a:r>
              <a:rPr lang="en-US" sz="2000" dirty="0" err="1">
                <a:latin typeface="Times New Roman" pitchFamily="18" charset="0"/>
                <a:cs typeface="Times New Roman" pitchFamily="18" charset="0"/>
              </a:rPr>
              <a:t>Chart,Alerts</a:t>
            </a:r>
            <a:r>
              <a:rPr lang="en-US" sz="2000" dirty="0">
                <a:latin typeface="Times New Roman" pitchFamily="18" charset="0"/>
                <a:cs typeface="Times New Roman" pitchFamily="18" charset="0"/>
              </a:rPr>
              <a:t> for High Stress or Anomalies.</a:t>
            </a:r>
            <a:endParaRPr lang="en-US" sz="2000" dirty="0">
              <a:latin typeface="Times New Roman" pitchFamily="18" charset="0"/>
              <a:ea typeface="Calibri"/>
              <a:cs typeface="Times New Roman" pitchFamily="18" charset="0"/>
              <a:sym typeface="Calibri"/>
            </a:endParaRPr>
          </a:p>
          <a:p>
            <a:pPr marL="114300" indent="0" algn="just">
              <a:lnSpc>
                <a:spcPct val="115000"/>
              </a:lnSpc>
              <a:spcAft>
                <a:spcPts val="800"/>
              </a:spcAft>
              <a:buNone/>
            </a:pPr>
            <a:endParaRPr lang="en-US" sz="1800" dirty="0"/>
          </a:p>
        </p:txBody>
      </p:sp>
      <p:sp>
        <p:nvSpPr>
          <p:cNvPr id="55" name="Google Shape;55;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3</a:t>
            </a:fld>
            <a:endParaRPr/>
          </a:p>
        </p:txBody>
      </p:sp>
      <p:sp>
        <p:nvSpPr>
          <p:cNvPr id="6" name="Google Shape;310;p41"/>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Department of Artificial Intelligence</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4</a:t>
            </a:fld>
            <a:endParaRPr/>
          </a:p>
        </p:txBody>
      </p:sp>
      <p:sp>
        <p:nvSpPr>
          <p:cNvPr id="68" name="Google Shape;68;p13"/>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a:t>Literature Survey</a:t>
            </a:r>
            <a:endParaRPr/>
          </a:p>
        </p:txBody>
      </p:sp>
      <p:sp>
        <p:nvSpPr>
          <p:cNvPr id="69" name="Google Shape;69;p13"/>
          <p:cNvSpPr txBox="1">
            <a:spLocks noGrp="1"/>
          </p:cNvSpPr>
          <p:nvPr>
            <p:ph type="ftr" idx="11"/>
          </p:nvPr>
        </p:nvSpPr>
        <p:spPr>
          <a:xfrm>
            <a:off x="4038600" y="6483932"/>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graphicFrame>
        <p:nvGraphicFramePr>
          <p:cNvPr id="70" name="Google Shape;70;p13"/>
          <p:cNvGraphicFramePr/>
          <p:nvPr>
            <p:extLst>
              <p:ext uri="{D42A27DB-BD31-4B8C-83A1-F6EECF244321}">
                <p14:modId xmlns:p14="http://schemas.microsoft.com/office/powerpoint/2010/main" val="2025550203"/>
              </p:ext>
            </p:extLst>
          </p:nvPr>
        </p:nvGraphicFramePr>
        <p:xfrm>
          <a:off x="91440" y="1690688"/>
          <a:ext cx="11262360" cy="5404842"/>
        </p:xfrm>
        <a:graphic>
          <a:graphicData uri="http://schemas.openxmlformats.org/drawingml/2006/table">
            <a:tbl>
              <a:tblPr firstRow="1" bandRow="1">
                <a:noFill/>
                <a:tableStyleId>{960D9745-7C38-4BDD-B7B4-6FD5B6A216A6}</a:tableStyleId>
              </a:tblPr>
              <a:tblGrid>
                <a:gridCol w="445894">
                  <a:extLst>
                    <a:ext uri="{9D8B030D-6E8A-4147-A177-3AD203B41FA5}">
                      <a16:colId xmlns:a16="http://schemas.microsoft.com/office/drawing/2014/main" val="20000"/>
                    </a:ext>
                  </a:extLst>
                </a:gridCol>
                <a:gridCol w="1718186">
                  <a:extLst>
                    <a:ext uri="{9D8B030D-6E8A-4147-A177-3AD203B41FA5}">
                      <a16:colId xmlns:a16="http://schemas.microsoft.com/office/drawing/2014/main" val="20001"/>
                    </a:ext>
                  </a:extLst>
                </a:gridCol>
                <a:gridCol w="1108962">
                  <a:extLst>
                    <a:ext uri="{9D8B030D-6E8A-4147-A177-3AD203B41FA5}">
                      <a16:colId xmlns:a16="http://schemas.microsoft.com/office/drawing/2014/main" val="20005"/>
                    </a:ext>
                  </a:extLst>
                </a:gridCol>
                <a:gridCol w="1518715">
                  <a:extLst>
                    <a:ext uri="{9D8B030D-6E8A-4147-A177-3AD203B41FA5}">
                      <a16:colId xmlns:a16="http://schemas.microsoft.com/office/drawing/2014/main" val="20002"/>
                    </a:ext>
                  </a:extLst>
                </a:gridCol>
                <a:gridCol w="1471986">
                  <a:extLst>
                    <a:ext uri="{9D8B030D-6E8A-4147-A177-3AD203B41FA5}">
                      <a16:colId xmlns:a16="http://schemas.microsoft.com/office/drawing/2014/main" val="20006"/>
                    </a:ext>
                  </a:extLst>
                </a:gridCol>
                <a:gridCol w="1280057">
                  <a:extLst>
                    <a:ext uri="{9D8B030D-6E8A-4147-A177-3AD203B41FA5}">
                      <a16:colId xmlns:a16="http://schemas.microsoft.com/office/drawing/2014/main" val="20007"/>
                    </a:ext>
                  </a:extLst>
                </a:gridCol>
                <a:gridCol w="1386840">
                  <a:extLst>
                    <a:ext uri="{9D8B030D-6E8A-4147-A177-3AD203B41FA5}">
                      <a16:colId xmlns:a16="http://schemas.microsoft.com/office/drawing/2014/main" val="20003"/>
                    </a:ext>
                  </a:extLst>
                </a:gridCol>
                <a:gridCol w="731520">
                  <a:extLst>
                    <a:ext uri="{9D8B030D-6E8A-4147-A177-3AD203B41FA5}">
                      <a16:colId xmlns:a16="http://schemas.microsoft.com/office/drawing/2014/main" val="20008"/>
                    </a:ext>
                  </a:extLst>
                </a:gridCol>
                <a:gridCol w="1600200">
                  <a:extLst>
                    <a:ext uri="{9D8B030D-6E8A-4147-A177-3AD203B41FA5}">
                      <a16:colId xmlns:a16="http://schemas.microsoft.com/office/drawing/2014/main" val="20004"/>
                    </a:ext>
                  </a:extLst>
                </a:gridCol>
              </a:tblGrid>
              <a:tr h="528022">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dirty="0">
                          <a:latin typeface="Times New Roman" pitchFamily="18" charset="0"/>
                          <a:ea typeface="Times New Roman"/>
                          <a:cs typeface="Times New Roman" pitchFamily="18" charset="0"/>
                          <a:sym typeface="Times New Roman"/>
                        </a:rPr>
                        <a:t>S. No.</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dirty="0">
                          <a:latin typeface="Times New Roman" pitchFamily="18" charset="0"/>
                          <a:ea typeface="Times New Roman"/>
                          <a:cs typeface="Times New Roman" pitchFamily="18" charset="0"/>
                          <a:sym typeface="Times New Roman"/>
                        </a:rPr>
                        <a:t>Title, Authors</a:t>
                      </a:r>
                      <a:endParaRPr b="1"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b="1" dirty="0">
                          <a:latin typeface="Times New Roman" pitchFamily="18" charset="0"/>
                          <a:cs typeface="Times New Roman" pitchFamily="18" charset="0"/>
                        </a:rPr>
                        <a:t>Dataset</a:t>
                      </a:r>
                      <a:endParaRPr b="1"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dirty="0">
                          <a:latin typeface="Times New Roman" pitchFamily="18" charset="0"/>
                          <a:ea typeface="Times New Roman"/>
                          <a:cs typeface="Times New Roman" pitchFamily="18" charset="0"/>
                          <a:sym typeface="Times New Roman"/>
                        </a:rPr>
                        <a:t>Methodology</a:t>
                      </a:r>
                      <a:endParaRPr b="1"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b="1" dirty="0">
                          <a:latin typeface="Times New Roman" pitchFamily="18" charset="0"/>
                          <a:cs typeface="Times New Roman" pitchFamily="18" charset="0"/>
                        </a:rPr>
                        <a:t>Strengths</a:t>
                      </a:r>
                      <a:endParaRPr b="1"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b="1" dirty="0">
                          <a:latin typeface="Times New Roman" pitchFamily="18" charset="0"/>
                          <a:cs typeface="Times New Roman" pitchFamily="18" charset="0"/>
                        </a:rPr>
                        <a:t>Weakness</a:t>
                      </a:r>
                      <a:endParaRPr b="1"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1400" b="1" i="0" u="none" strike="noStrike" cap="none" dirty="0">
                          <a:solidFill>
                            <a:srgbClr val="000000"/>
                          </a:solidFill>
                          <a:latin typeface="Times New Roman" pitchFamily="18" charset="0"/>
                          <a:ea typeface="Times New Roman"/>
                          <a:cs typeface="Times New Roman" pitchFamily="18" charset="0"/>
                          <a:sym typeface="Times New Roman"/>
                        </a:rPr>
                        <a:t>Evaluation</a:t>
                      </a:r>
                      <a:r>
                        <a:rPr lang="en-US" sz="1400" b="1" i="0" u="none" strike="noStrike" cap="none" baseline="0" dirty="0">
                          <a:solidFill>
                            <a:srgbClr val="000000"/>
                          </a:solidFill>
                          <a:latin typeface="Times New Roman" pitchFamily="18" charset="0"/>
                          <a:ea typeface="Times New Roman"/>
                          <a:cs typeface="Times New Roman" pitchFamily="18" charset="0"/>
                          <a:sym typeface="Times New Roman"/>
                        </a:rPr>
                        <a:t> </a:t>
                      </a:r>
                      <a:r>
                        <a:rPr lang="en-US" sz="1400" b="1" i="0" u="none" strike="noStrike" cap="none" dirty="0">
                          <a:solidFill>
                            <a:srgbClr val="000000"/>
                          </a:solidFill>
                          <a:latin typeface="Times New Roman" pitchFamily="18" charset="0"/>
                          <a:ea typeface="Times New Roman"/>
                          <a:cs typeface="Times New Roman" pitchFamily="18" charset="0"/>
                          <a:sym typeface="Times New Roman"/>
                        </a:rPr>
                        <a:t>Metrics</a:t>
                      </a:r>
                      <a:endParaRPr sz="1400" b="1" i="0" u="none" strike="noStrike" cap="none" dirty="0">
                        <a:solidFill>
                          <a:srgbClr val="000000"/>
                        </a:solidFill>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b="1" dirty="0">
                          <a:latin typeface="Times New Roman" pitchFamily="18" charset="0"/>
                          <a:cs typeface="Times New Roman" pitchFamily="18" charset="0"/>
                        </a:rPr>
                        <a:t>Year</a:t>
                      </a:r>
                      <a:endParaRPr b="1"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1400" b="1" i="0" u="none" strike="noStrike" cap="none" dirty="0">
                          <a:solidFill>
                            <a:srgbClr val="000000"/>
                          </a:solidFill>
                          <a:latin typeface="Times New Roman" pitchFamily="18" charset="0"/>
                          <a:ea typeface="Times New Roman"/>
                          <a:cs typeface="Times New Roman" pitchFamily="18" charset="0"/>
                          <a:sym typeface="Times New Roman"/>
                        </a:rPr>
                        <a:t>Research paper Link</a:t>
                      </a:r>
                      <a:endParaRPr b="1" dirty="0">
                        <a:latin typeface="Times New Roman" pitchFamily="18" charset="0"/>
                        <a:cs typeface="Times New Roman" pitchFamily="18" charset="0"/>
                      </a:endParaRPr>
                    </a:p>
                  </a:txBody>
                  <a:tcPr marL="91450" marR="91450" marT="45725" marB="45725" anchor="ctr"/>
                </a:tc>
                <a:extLst>
                  <a:ext uri="{0D108BD9-81ED-4DB2-BD59-A6C34878D82A}">
                    <a16:rowId xmlns:a16="http://schemas.microsoft.com/office/drawing/2014/main" val="10000"/>
                  </a:ext>
                </a:extLst>
              </a:tr>
              <a:tr h="1144040">
                <a:tc>
                  <a:txBody>
                    <a:bodyPr/>
                    <a:lstStyle/>
                    <a:p>
                      <a:pPr marL="0" marR="0" lvl="0" indent="0" algn="ctr" rtl="0">
                        <a:lnSpc>
                          <a:spcPct val="100000"/>
                        </a:lnSpc>
                        <a:spcBef>
                          <a:spcPts val="0"/>
                        </a:spcBef>
                        <a:spcAft>
                          <a:spcPts val="0"/>
                        </a:spcAft>
                        <a:buClr>
                          <a:srgbClr val="000000"/>
                        </a:buClr>
                        <a:buSzPts val="1400"/>
                        <a:buFont typeface="Arial"/>
                        <a:buNone/>
                      </a:pPr>
                      <a:r>
                        <a:rPr lang="en-US">
                          <a:latin typeface="Times New Roman" pitchFamily="18" charset="0"/>
                          <a:cs typeface="Times New Roman" pitchFamily="18" charset="0"/>
                        </a:rPr>
                        <a:t>1</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Paper -1 </a:t>
                      </a:r>
                      <a:r>
                        <a:rPr lang="en-US" sz="1400" b="0" i="0" u="none" strike="noStrike" cap="none" dirty="0">
                          <a:solidFill>
                            <a:schemeClr val="dk1"/>
                          </a:solidFill>
                          <a:effectLst/>
                          <a:latin typeface="Times New Roman" panose="02020603050405020304" pitchFamily="18" charset="0"/>
                          <a:ea typeface="Arial"/>
                          <a:cs typeface="Times New Roman" panose="02020603050405020304" pitchFamily="18" charset="0"/>
                          <a:sym typeface="Arial" panose="020B0604020202020204"/>
                        </a:rPr>
                        <a:t>A Predictive Analysis of Heart Rates Using Machine Learning Techniques</a:t>
                      </a:r>
                    </a:p>
                  </a:txBody>
                  <a:tcPr marL="91450" marR="91450" marT="45725" marB="45725" anchor="ctr"/>
                </a:tc>
                <a:tc>
                  <a:txBody>
                    <a:bodyPr/>
                    <a:lstStyle/>
                    <a:p>
                      <a:pPr marL="0" marR="0" lvl="0" indent="0" algn="ctr" rtl="0">
                        <a:lnSpc>
                          <a:spcPct val="100000"/>
                        </a:lnSpc>
                        <a:spcBef>
                          <a:spcPts val="0"/>
                        </a:spcBef>
                        <a:spcAft>
                          <a:spcPts val="0"/>
                        </a:spcAft>
                        <a:buNone/>
                      </a:pPr>
                      <a:r>
                        <a:rPr lang="en-US" dirty="0"/>
                        <a:t>Multilevel Monitoring of Activity and Sleep in Healthy people (MMASH) dataset </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ARIMA Model, Machine Learning Techniques, LSTM Deep Learning Model, Regression, Regressor</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Can predict future HR more accurately using accelerometer data.</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l" rtl="0">
                        <a:lnSpc>
                          <a:spcPct val="100000"/>
                        </a:lnSpc>
                        <a:spcBef>
                          <a:spcPts val="0"/>
                        </a:spcBef>
                        <a:spcAft>
                          <a:spcPts val="0"/>
                        </a:spcAft>
                        <a:buNone/>
                      </a:pPr>
                      <a:r>
                        <a:rPr lang="en-US" dirty="0"/>
                        <a:t>The data was based on accelerometer data, which may be less accurate than HR data.</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root mean squared error (RMSE) and calculating the scatter index (SI)</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1400" u="none" strike="noStrike" cap="none" dirty="0">
                          <a:latin typeface="Times New Roman" pitchFamily="18" charset="0"/>
                          <a:ea typeface="Times New Roman"/>
                          <a:cs typeface="Times New Roman" pitchFamily="18" charset="0"/>
                          <a:sym typeface="Times New Roman"/>
                        </a:rPr>
                        <a:t>2024</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 </a:t>
                      </a:r>
                      <a:r>
                        <a:rPr lang="en-US" dirty="0">
                          <a:hlinkClick r:id="rId3"/>
                        </a:rPr>
                        <a:t>A Predictive Analysis of Heart Rates Using Machine Learning Techniques – PMC</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extLst>
                  <a:ext uri="{0D108BD9-81ED-4DB2-BD59-A6C34878D82A}">
                    <a16:rowId xmlns:a16="http://schemas.microsoft.com/office/drawing/2014/main" val="10001"/>
                  </a:ext>
                </a:extLst>
              </a:tr>
              <a:tr h="639142">
                <a:tc>
                  <a:txBody>
                    <a:bodyPr/>
                    <a:lstStyle/>
                    <a:p>
                      <a:pPr marL="0" marR="0" lvl="0" indent="0" algn="ctr" rtl="0">
                        <a:lnSpc>
                          <a:spcPct val="100000"/>
                        </a:lnSpc>
                        <a:spcBef>
                          <a:spcPts val="0"/>
                        </a:spcBef>
                        <a:spcAft>
                          <a:spcPts val="0"/>
                        </a:spcAft>
                        <a:buNone/>
                      </a:pPr>
                      <a:r>
                        <a:rPr lang="en-US">
                          <a:latin typeface="Times New Roman" pitchFamily="18" charset="0"/>
                          <a:cs typeface="Times New Roman" pitchFamily="18" charset="0"/>
                        </a:rPr>
                        <a:t>2</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Paper -2 Smart Heart Rate, Oxygen Level and Temperature values Monitoring with Things peak</a:t>
                      </a:r>
                    </a:p>
                  </a:txBody>
                  <a:tcPr marL="91450" marR="91450" marT="45725" marB="45725"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Collected physiological data (Heart Rate, SpO2, Temperature) using IoT sensors integrated with </a:t>
                      </a:r>
                      <a:r>
                        <a:rPr lang="en-US" dirty="0" err="1"/>
                        <a:t>ThingSpeak</a:t>
                      </a:r>
                      <a:r>
                        <a:rPr lang="en-US" dirty="0"/>
                        <a:t>.</a:t>
                      </a:r>
                      <a:br>
                        <a:rPr lang="en-IN" sz="1400" b="0" i="0" u="none" strike="noStrike" cap="none" dirty="0">
                          <a:solidFill>
                            <a:srgbClr val="6B9F25"/>
                          </a:solidFill>
                          <a:effectLst/>
                          <a:latin typeface="Arial"/>
                          <a:ea typeface="Arial"/>
                          <a:cs typeface="Arial"/>
                          <a:sym typeface="Arial"/>
                          <a:hlinkClick r:id="rId4">
                            <a:extLst>
                              <a:ext uri="{A12FA001-AC4F-418D-AE19-62706E023703}">
                                <ahyp:hlinkClr xmlns:ahyp="http://schemas.microsoft.com/office/drawing/2018/hyperlinkcolor" val="tx"/>
                              </a:ext>
                            </a:extLst>
                          </a:hlinkClick>
                        </a:rPr>
                      </a:b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anose="02020603050405020304" pitchFamily="18" charset="0"/>
                          <a:cs typeface="Times New Roman" panose="02020603050405020304" pitchFamily="18" charset="0"/>
                        </a:rPr>
                        <a:t>ESP8266, MAX30102 and LM35 </a:t>
                      </a:r>
                      <a:r>
                        <a:rPr lang="en-US" dirty="0" err="1">
                          <a:latin typeface="Times New Roman" panose="02020603050405020304" pitchFamily="18" charset="0"/>
                          <a:cs typeface="Times New Roman" panose="02020603050405020304" pitchFamily="18" charset="0"/>
                        </a:rPr>
                        <a:t>sensors,CNN</a:t>
                      </a:r>
                      <a:r>
                        <a:rPr lang="en-US" dirty="0">
                          <a:latin typeface="Times New Roman" panose="02020603050405020304" pitchFamily="18" charset="0"/>
                          <a:cs typeface="Times New Roman" panose="02020603050405020304" pitchFamily="18" charset="0"/>
                        </a:rPr>
                        <a:t>, Monitoring and Prediction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Real-time monitoring, IoT-based remote access, multi-parameter health tracking.</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Limited dataset size, potential sensor inaccuracies, dependency on cloud connectivity.</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Accuracy, Mean Absolute Error (MAE), Root Mean Square Error (RMSE), Response Time.</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None/>
                      </a:pPr>
                      <a:r>
                        <a:rPr lang="en-IN" sz="1400" u="none" strike="noStrike" cap="none" dirty="0">
                          <a:latin typeface="Times New Roman" pitchFamily="18" charset="0"/>
                          <a:ea typeface="Times New Roman"/>
                          <a:cs typeface="Times New Roman" pitchFamily="18" charset="0"/>
                          <a:sym typeface="Times New Roman"/>
                        </a:rPr>
                        <a:t>2023</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https://doi.org/10.1089/big.2020.0159. </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F29B1413-670C-4844-E0C1-F72EAE4AA823}"/>
            </a:ext>
          </a:extLst>
        </p:cNvPr>
        <p:cNvGrpSpPr/>
        <p:nvPr/>
      </p:nvGrpSpPr>
      <p:grpSpPr>
        <a:xfrm>
          <a:off x="0" y="0"/>
          <a:ext cx="0" cy="0"/>
          <a:chOff x="0" y="0"/>
          <a:chExt cx="0" cy="0"/>
        </a:xfrm>
      </p:grpSpPr>
      <p:sp>
        <p:nvSpPr>
          <p:cNvPr id="67" name="Google Shape;67;p13">
            <a:extLst>
              <a:ext uri="{FF2B5EF4-FFF2-40B4-BE49-F238E27FC236}">
                <a16:creationId xmlns:a16="http://schemas.microsoft.com/office/drawing/2014/main" id="{0513559E-1506-77E1-F2D0-D850CE3398D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5</a:t>
            </a:fld>
            <a:endParaRPr/>
          </a:p>
        </p:txBody>
      </p:sp>
      <p:sp>
        <p:nvSpPr>
          <p:cNvPr id="68" name="Google Shape;68;p13">
            <a:extLst>
              <a:ext uri="{FF2B5EF4-FFF2-40B4-BE49-F238E27FC236}">
                <a16:creationId xmlns:a16="http://schemas.microsoft.com/office/drawing/2014/main" id="{6C8E7ACD-6125-2752-3EAD-D81292597D89}"/>
              </a:ext>
            </a:extLst>
          </p:cNvPr>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a:t>Literature Survey</a:t>
            </a:r>
            <a:endParaRPr/>
          </a:p>
        </p:txBody>
      </p:sp>
      <p:sp>
        <p:nvSpPr>
          <p:cNvPr id="69" name="Google Shape;69;p13">
            <a:extLst>
              <a:ext uri="{FF2B5EF4-FFF2-40B4-BE49-F238E27FC236}">
                <a16:creationId xmlns:a16="http://schemas.microsoft.com/office/drawing/2014/main" id="{F87EF5D0-7F0E-1C52-55C6-3FF2C106A20E}"/>
              </a:ext>
            </a:extLst>
          </p:cNvPr>
          <p:cNvSpPr txBox="1">
            <a:spLocks noGrp="1"/>
          </p:cNvSpPr>
          <p:nvPr>
            <p:ph type="ftr" idx="11"/>
          </p:nvPr>
        </p:nvSpPr>
        <p:spPr>
          <a:xfrm>
            <a:off x="4038600" y="6483932"/>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graphicFrame>
        <p:nvGraphicFramePr>
          <p:cNvPr id="3" name="Table 2">
            <a:extLst>
              <a:ext uri="{FF2B5EF4-FFF2-40B4-BE49-F238E27FC236}">
                <a16:creationId xmlns:a16="http://schemas.microsoft.com/office/drawing/2014/main" id="{8AC8A2CD-C6D1-A878-F4D3-B0D09EB96FCC}"/>
              </a:ext>
            </a:extLst>
          </p:cNvPr>
          <p:cNvGraphicFramePr>
            <a:graphicFrameLocks noGrp="1"/>
          </p:cNvGraphicFramePr>
          <p:nvPr>
            <p:extLst>
              <p:ext uri="{D42A27DB-BD31-4B8C-83A1-F6EECF244321}">
                <p14:modId xmlns:p14="http://schemas.microsoft.com/office/powerpoint/2010/main" val="2247833504"/>
              </p:ext>
            </p:extLst>
          </p:nvPr>
        </p:nvGraphicFramePr>
        <p:xfrm>
          <a:off x="451485" y="1906250"/>
          <a:ext cx="11289029" cy="3975037"/>
        </p:xfrm>
        <a:graphic>
          <a:graphicData uri="http://schemas.openxmlformats.org/drawingml/2006/table">
            <a:tbl>
              <a:tblPr firstRow="1" bandRow="1">
                <a:noFill/>
                <a:tableStyleId>{960D9745-7C38-4BDD-B7B4-6FD5B6A216A6}</a:tableStyleId>
              </a:tblPr>
              <a:tblGrid>
                <a:gridCol w="446950">
                  <a:extLst>
                    <a:ext uri="{9D8B030D-6E8A-4147-A177-3AD203B41FA5}">
                      <a16:colId xmlns:a16="http://schemas.microsoft.com/office/drawing/2014/main" val="2168410446"/>
                    </a:ext>
                  </a:extLst>
                </a:gridCol>
                <a:gridCol w="1722255">
                  <a:extLst>
                    <a:ext uri="{9D8B030D-6E8A-4147-A177-3AD203B41FA5}">
                      <a16:colId xmlns:a16="http://schemas.microsoft.com/office/drawing/2014/main" val="2383343313"/>
                    </a:ext>
                  </a:extLst>
                </a:gridCol>
                <a:gridCol w="1111588">
                  <a:extLst>
                    <a:ext uri="{9D8B030D-6E8A-4147-A177-3AD203B41FA5}">
                      <a16:colId xmlns:a16="http://schemas.microsoft.com/office/drawing/2014/main" val="2355350714"/>
                    </a:ext>
                  </a:extLst>
                </a:gridCol>
                <a:gridCol w="1522311">
                  <a:extLst>
                    <a:ext uri="{9D8B030D-6E8A-4147-A177-3AD203B41FA5}">
                      <a16:colId xmlns:a16="http://schemas.microsoft.com/office/drawing/2014/main" val="3948760462"/>
                    </a:ext>
                  </a:extLst>
                </a:gridCol>
                <a:gridCol w="1475472">
                  <a:extLst>
                    <a:ext uri="{9D8B030D-6E8A-4147-A177-3AD203B41FA5}">
                      <a16:colId xmlns:a16="http://schemas.microsoft.com/office/drawing/2014/main" val="1140741595"/>
                    </a:ext>
                  </a:extLst>
                </a:gridCol>
                <a:gridCol w="1283088">
                  <a:extLst>
                    <a:ext uri="{9D8B030D-6E8A-4147-A177-3AD203B41FA5}">
                      <a16:colId xmlns:a16="http://schemas.microsoft.com/office/drawing/2014/main" val="2572741470"/>
                    </a:ext>
                  </a:extLst>
                </a:gridCol>
                <a:gridCol w="1390124">
                  <a:extLst>
                    <a:ext uri="{9D8B030D-6E8A-4147-A177-3AD203B41FA5}">
                      <a16:colId xmlns:a16="http://schemas.microsoft.com/office/drawing/2014/main" val="4241891725"/>
                    </a:ext>
                  </a:extLst>
                </a:gridCol>
                <a:gridCol w="733252">
                  <a:extLst>
                    <a:ext uri="{9D8B030D-6E8A-4147-A177-3AD203B41FA5}">
                      <a16:colId xmlns:a16="http://schemas.microsoft.com/office/drawing/2014/main" val="348421369"/>
                    </a:ext>
                  </a:extLst>
                </a:gridCol>
                <a:gridCol w="1603989">
                  <a:extLst>
                    <a:ext uri="{9D8B030D-6E8A-4147-A177-3AD203B41FA5}">
                      <a16:colId xmlns:a16="http://schemas.microsoft.com/office/drawing/2014/main" val="2975310745"/>
                    </a:ext>
                  </a:extLst>
                </a:gridCol>
              </a:tblGrid>
              <a:tr h="1946471">
                <a:tc>
                  <a:txBody>
                    <a:bodyPr/>
                    <a:lstStyle/>
                    <a:p>
                      <a:pPr marL="0" marR="0" lvl="0" indent="0" algn="ctr" rtl="0">
                        <a:lnSpc>
                          <a:spcPct val="100000"/>
                        </a:lnSpc>
                        <a:spcBef>
                          <a:spcPts val="0"/>
                        </a:spcBef>
                        <a:spcAft>
                          <a:spcPts val="0"/>
                        </a:spcAft>
                        <a:buNone/>
                      </a:pPr>
                      <a:r>
                        <a:rPr lang="en-US" dirty="0">
                          <a:latin typeface="Times New Roman" pitchFamily="18" charset="0"/>
                          <a:cs typeface="Times New Roman" pitchFamily="18" charset="0"/>
                        </a:rPr>
                        <a:t>3</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Paper -3  </a:t>
                      </a:r>
                      <a:r>
                        <a:rPr lang="en-US" sz="1400" b="0" i="0" u="none" strike="noStrike" cap="none" dirty="0">
                          <a:solidFill>
                            <a:schemeClr val="dk1"/>
                          </a:solidFill>
                          <a:effectLst/>
                          <a:latin typeface="Times New Roman" panose="02020603050405020304" pitchFamily="18" charset="0"/>
                          <a:ea typeface="Arial"/>
                          <a:cs typeface="Times New Roman" panose="02020603050405020304" pitchFamily="18" charset="0"/>
                          <a:sym typeface="Arial" panose="020B0604020202020204"/>
                        </a:rPr>
                        <a:t>A deep learning approach for remote heart rate estimation</a:t>
                      </a:r>
                      <a:endParaRPr lang="en-US"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Wearable sensor-based heart rate and stress data.</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Long Short-Term Memory (LSTM) Deep Neural Network</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The LSTM network works well beyond the visible spectrum, e.g., with infrared lighting when color signals are not available..</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The study does not explicitly mention any weaknesses of the proposed method..</a:t>
                      </a:r>
                      <a:br>
                        <a:rPr lang="en-US" dirty="0"/>
                      </a:b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IN" dirty="0"/>
                        <a:t>Accuracy, Sensitivity, Specificity, F1-score.</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1400" u="none" strike="noStrike" cap="none" dirty="0">
                          <a:latin typeface="Times New Roman" pitchFamily="18" charset="0"/>
                          <a:ea typeface="Times New Roman"/>
                          <a:cs typeface="Times New Roman" pitchFamily="18" charset="0"/>
                          <a:sym typeface="Times New Roman"/>
                        </a:rPr>
                        <a:t>2022</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https://doi.org/10.1016/j.bspc.2021.103457</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extLst>
                  <a:ext uri="{0D108BD9-81ED-4DB2-BD59-A6C34878D82A}">
                    <a16:rowId xmlns:a16="http://schemas.microsoft.com/office/drawing/2014/main" val="3627086744"/>
                  </a:ext>
                </a:extLst>
              </a:tr>
              <a:tr h="1963347">
                <a:tc>
                  <a:txBody>
                    <a:bodyPr/>
                    <a:lstStyle/>
                    <a:p>
                      <a:pPr marL="0" marR="0" lvl="0" indent="0" algn="ctr" rtl="0">
                        <a:lnSpc>
                          <a:spcPct val="100000"/>
                        </a:lnSpc>
                        <a:spcBef>
                          <a:spcPts val="0"/>
                        </a:spcBef>
                        <a:spcAft>
                          <a:spcPts val="0"/>
                        </a:spcAft>
                        <a:buNone/>
                      </a:pPr>
                      <a:r>
                        <a:rPr lang="en-IN" dirty="0">
                          <a:latin typeface="Times New Roman" pitchFamily="18" charset="0"/>
                          <a:cs typeface="Times New Roman" pitchFamily="18" charset="0"/>
                        </a:rPr>
                        <a:t>4</a:t>
                      </a:r>
                    </a:p>
                  </a:txBody>
                  <a:tcPr marL="91450" marR="91450" marT="45725" marB="45725"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Paper-4 </a:t>
                      </a:r>
                      <a:r>
                        <a:rPr lang="en-US" sz="1400" b="0" i="0" dirty="0">
                          <a:solidFill>
                            <a:srgbClr val="1F1F1F"/>
                          </a:solidFill>
                          <a:effectLst/>
                          <a:latin typeface="Times New Roman" panose="02020603050405020304" pitchFamily="18" charset="0"/>
                          <a:cs typeface="Times New Roman" panose="02020603050405020304" pitchFamily="18" charset="0"/>
                        </a:rPr>
                        <a:t>Inertial measurement and heart-rate sensor-based dataset for geriatric fall detection using custom built wrist-worn device</a:t>
                      </a:r>
                      <a:endParaRPr lang="en-US"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BITS-2 Dataset for Fall Detection.</a:t>
                      </a:r>
                      <a:endParaRPr dirty="0">
                        <a:latin typeface="Times New Roman" pitchFamily="18" charset="0"/>
                        <a:cs typeface="Times New Roman" pitchFamily="18" charset="0"/>
                      </a:endParaRPr>
                    </a:p>
                  </a:txBody>
                  <a:tcPr marL="91450" marR="91450" marT="45725" marB="45725" anchor="ctr"/>
                </a:tc>
                <a:tc>
                  <a:txBody>
                    <a:bodyPr/>
                    <a:lstStyle/>
                    <a:p>
                      <a:r>
                        <a:rPr lang="en-US" dirty="0"/>
                        <a:t>ARIMA Model</a:t>
                      </a:r>
                    </a:p>
                    <a:p>
                      <a:r>
                        <a:rPr lang="en-US" dirty="0"/>
                        <a:t>Machine Learning Techniques</a:t>
                      </a:r>
                    </a:p>
                    <a:p>
                      <a:r>
                        <a:rPr lang="en-US" dirty="0"/>
                        <a:t>LSTM Deep Learning Model</a:t>
                      </a:r>
                    </a:p>
                    <a:p>
                      <a:r>
                        <a:rPr lang="en-US" dirty="0"/>
                        <a:t>Regression and Regressor</a:t>
                      </a:r>
                    </a:p>
                  </a:txBody>
                  <a:tcPr marL="91450" marR="91450" marT="45725" marB="45725" anchor="ctr"/>
                </a:tc>
                <a:tc>
                  <a:txBody>
                    <a:bodyPr/>
                    <a:lstStyle/>
                    <a:p>
                      <a:pPr marL="0" marR="0" lvl="0" indent="0" algn="l" rtl="0">
                        <a:lnSpc>
                          <a:spcPct val="100000"/>
                        </a:lnSpc>
                        <a:spcBef>
                          <a:spcPts val="0"/>
                        </a:spcBef>
                        <a:spcAft>
                          <a:spcPts val="0"/>
                        </a:spcAft>
                        <a:buNone/>
                      </a:pPr>
                      <a:r>
                        <a:rPr lang="en-US" dirty="0"/>
                        <a:t>Can predict future HR more accurately using accelerometer data.</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The data was based on accelerometer data, which may be less accurate than HR data.</a:t>
                      </a:r>
                      <a:endParaRPr dirty="0">
                        <a:latin typeface="Times New Roman" pitchFamily="18" charset="0"/>
                        <a:cs typeface="Times New Roman" pitchFamily="18" charset="0"/>
                      </a:endParaRPr>
                    </a:p>
                  </a:txBody>
                  <a:tcPr marL="91450" marR="91450" marT="45725" marB="45725" anchor="ctr"/>
                </a:tc>
                <a:tc>
                  <a:txBody>
                    <a:bodyPr/>
                    <a:lstStyle/>
                    <a:p>
                      <a:r>
                        <a:rPr lang="en-US" dirty="0"/>
                        <a:t>Root Mean Squared Error (RMSE)</a:t>
                      </a:r>
                    </a:p>
                    <a:p>
                      <a:r>
                        <a:rPr lang="en-US" dirty="0"/>
                        <a:t>Scatter Index (SI)</a:t>
                      </a:r>
                    </a:p>
                  </a:txBody>
                  <a:tcPr marL="91450" marR="91450" marT="45725" marB="45725" anchor="ctr"/>
                </a:tc>
                <a:tc>
                  <a:txBody>
                    <a:bodyPr/>
                    <a:lstStyle/>
                    <a:p>
                      <a:pPr marL="0" marR="0" lvl="0" indent="0" algn="ctr" rtl="0">
                        <a:lnSpc>
                          <a:spcPct val="100000"/>
                        </a:lnSpc>
                        <a:spcBef>
                          <a:spcPts val="0"/>
                        </a:spcBef>
                        <a:spcAft>
                          <a:spcPts val="0"/>
                        </a:spcAft>
                        <a:buNone/>
                      </a:pPr>
                      <a:r>
                        <a:rPr lang="en-US" sz="1400" u="none" strike="noStrike" cap="none" dirty="0">
                          <a:latin typeface="Times New Roman" pitchFamily="18" charset="0"/>
                          <a:ea typeface="Times New Roman"/>
                          <a:cs typeface="Times New Roman" pitchFamily="18" charset="0"/>
                          <a:sym typeface="Times New Roman"/>
                        </a:rPr>
                        <a:t>2022</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https://doi.org/10.1016/j.dib.2023.109812</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extLst>
                  <a:ext uri="{0D108BD9-81ED-4DB2-BD59-A6C34878D82A}">
                    <a16:rowId xmlns:a16="http://schemas.microsoft.com/office/drawing/2014/main" val="3521712196"/>
                  </a:ext>
                </a:extLst>
              </a:tr>
            </a:tbl>
          </a:graphicData>
        </a:graphic>
      </p:graphicFrame>
    </p:spTree>
    <p:extLst>
      <p:ext uri="{BB962C8B-B14F-4D97-AF65-F5344CB8AC3E}">
        <p14:creationId xmlns:p14="http://schemas.microsoft.com/office/powerpoint/2010/main" val="1789713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4"/>
          <p:cNvSpPr txBox="1">
            <a:spLocks noGrp="1"/>
          </p:cNvSpPr>
          <p:nvPr>
            <p:ph type="body" idx="1"/>
          </p:nvPr>
        </p:nvSpPr>
        <p:spPr>
          <a:xfrm>
            <a:off x="409073" y="1825624"/>
            <a:ext cx="11502189" cy="4527049"/>
          </a:xfrm>
          <a:prstGeom prst="rect">
            <a:avLst/>
          </a:prstGeom>
          <a:noFill/>
          <a:ln>
            <a:noFill/>
          </a:ln>
        </p:spPr>
        <p:txBody>
          <a:bodyPr spcFirstLastPara="1" wrap="square" lIns="91425" tIns="45700" rIns="91425" bIns="45700" anchor="t" anchorCtr="0">
            <a:normAutofit/>
          </a:bodyPr>
          <a:lstStyle/>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Paper 1: </a:t>
            </a:r>
            <a:r>
              <a:rPr lang="en-US" sz="2000" b="0" i="0" u="none" strike="noStrike" cap="none" dirty="0">
                <a:solidFill>
                  <a:schemeClr val="dk1"/>
                </a:solidFill>
                <a:effectLst/>
                <a:latin typeface="Times New Roman" panose="02020603050405020304" pitchFamily="18" charset="0"/>
                <a:ea typeface="Arial"/>
                <a:cs typeface="Times New Roman" panose="02020603050405020304" pitchFamily="18" charset="0"/>
                <a:sym typeface="Arial" panose="020B0604020202020204"/>
              </a:rPr>
              <a:t>A Predictive Analysis of Heart Rates Using Machine Learning Techniques</a:t>
            </a:r>
            <a:endParaRPr lang="en-US" sz="2000" dirty="0">
              <a:latin typeface="Times New Roman" pitchFamily="18" charset="0"/>
              <a:cs typeface="Times New Roman" pitchFamily="18" charset="0"/>
            </a:endParaRPr>
          </a:p>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Authors: </a:t>
            </a:r>
            <a:r>
              <a:rPr lang="en-US" sz="2000" dirty="0" err="1">
                <a:latin typeface="Times New Roman" pitchFamily="18" charset="0"/>
                <a:cs typeface="Times New Roman" pitchFamily="18" charset="0"/>
              </a:rPr>
              <a:t>Mattew</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Oyeleye</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Tianhua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chen</a:t>
            </a:r>
            <a:r>
              <a:rPr lang="en-US" sz="2000" dirty="0">
                <a:latin typeface="Times New Roman" pitchFamily="18" charset="0"/>
                <a:cs typeface="Times New Roman" pitchFamily="18" charset="0"/>
              </a:rPr>
              <a:t> , Sofya </a:t>
            </a:r>
            <a:r>
              <a:rPr lang="en-US" sz="2000" dirty="0" err="1">
                <a:latin typeface="Times New Roman" pitchFamily="18" charset="0"/>
                <a:cs typeface="Times New Roman" pitchFamily="18" charset="0"/>
              </a:rPr>
              <a:t>Titarenko</a:t>
            </a:r>
            <a:r>
              <a:rPr lang="en-US" sz="2000" dirty="0">
                <a:latin typeface="Times New Roman" pitchFamily="18" charset="0"/>
                <a:cs typeface="Times New Roman" pitchFamily="18" charset="0"/>
              </a:rPr>
              <a:t>, Grigoris Antoniou</a:t>
            </a:r>
          </a:p>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Published by &amp; Year:  </a:t>
            </a:r>
            <a:r>
              <a:rPr lang="en-US" sz="2000" dirty="0" err="1">
                <a:latin typeface="Times New Roman" pitchFamily="18" charset="0"/>
                <a:cs typeface="Times New Roman" pitchFamily="18" charset="0"/>
              </a:rPr>
              <a:t>Enternational</a:t>
            </a:r>
            <a:r>
              <a:rPr lang="en-US" sz="2000" dirty="0">
                <a:latin typeface="Times New Roman" pitchFamily="18" charset="0"/>
                <a:cs typeface="Times New Roman" pitchFamily="18" charset="0"/>
              </a:rPr>
              <a:t> Journal of Environmental Research and Public Health 2024</a:t>
            </a:r>
          </a:p>
          <a:p>
            <a:pPr algn="l"/>
            <a:r>
              <a:rPr lang="en-US" sz="2000" b="0" i="0" dirty="0">
                <a:solidFill>
                  <a:srgbClr val="000000"/>
                </a:solidFill>
                <a:effectLst/>
                <a:latin typeface="Times New Roman" panose="02020603050405020304" pitchFamily="18" charset="0"/>
                <a:cs typeface="Times New Roman" panose="02020603050405020304" pitchFamily="18" charset="0"/>
              </a:rPr>
              <a:t>This study has addressed the use of machine learning to predict HR using 24 h univariant HR time-series data generated by an accelerometer, which can be used to detect early HR risks and to monitor patients with heart disease. We used the autoregressive integrated moving average (ARIMA) model, linear regression, support vector regression (SVR), k-nearest neighbor (KNN) regressor, decision tree regressor, random forest regressor and long short-term memory (LSTM) recurrent neural network algorithm to make predictions from the HR time-series</a:t>
            </a:r>
          </a:p>
          <a:p>
            <a:pPr marL="114300" indent="0">
              <a:lnSpc>
                <a:spcPct val="120000"/>
              </a:lnSpc>
              <a:buNone/>
            </a:pPr>
            <a:endParaRPr sz="2000" dirty="0">
              <a:latin typeface="Times New Roman" pitchFamily="18" charset="0"/>
              <a:cs typeface="Times New Roman" pitchFamily="18" charset="0"/>
            </a:endParaRPr>
          </a:p>
        </p:txBody>
      </p:sp>
      <p:sp>
        <p:nvSpPr>
          <p:cNvPr id="76" name="Google Shape;7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6</a:t>
            </a:fld>
            <a:endParaRPr/>
          </a:p>
        </p:txBody>
      </p:sp>
      <p:sp>
        <p:nvSpPr>
          <p:cNvPr id="77" name="Google Shape;77;p14"/>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a:t>Literature Survey -  Base paper</a:t>
            </a:r>
            <a:endParaRPr/>
          </a:p>
        </p:txBody>
      </p:sp>
      <p:sp>
        <p:nvSpPr>
          <p:cNvPr id="78" name="Google Shape;78;p14"/>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4"/>
          <p:cNvSpPr txBox="1">
            <a:spLocks noGrp="1"/>
          </p:cNvSpPr>
          <p:nvPr>
            <p:ph type="body" idx="1"/>
          </p:nvPr>
        </p:nvSpPr>
        <p:spPr>
          <a:xfrm>
            <a:off x="409073" y="1825624"/>
            <a:ext cx="11502189" cy="4527049"/>
          </a:xfrm>
          <a:prstGeom prst="rect">
            <a:avLst/>
          </a:prstGeom>
          <a:noFill/>
          <a:ln>
            <a:noFill/>
          </a:ln>
        </p:spPr>
        <p:txBody>
          <a:bodyPr spcFirstLastPara="1" wrap="square" lIns="91425" tIns="45700" rIns="91425" bIns="45700" anchor="t" anchorCtr="0">
            <a:normAutofit/>
          </a:bodyPr>
          <a:lstStyle/>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Paper 2: Smart Heart Rate, Oxygen Level and Temperature values Monitoring with Things peak</a:t>
            </a:r>
          </a:p>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Authors: </a:t>
            </a:r>
            <a:r>
              <a:rPr lang="en-US" sz="2000" dirty="0" err="1">
                <a:latin typeface="Times New Roman" pitchFamily="18" charset="0"/>
                <a:cs typeface="Times New Roman" pitchFamily="18" charset="0"/>
              </a:rPr>
              <a:t>Inampudi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lipi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Dr.S.Ramesh</a:t>
            </a:r>
            <a:r>
              <a:rPr lang="en-US" sz="2000" dirty="0">
                <a:latin typeface="Times New Roman" pitchFamily="18" charset="0"/>
                <a:cs typeface="Times New Roman" pitchFamily="18" charset="0"/>
              </a:rPr>
              <a:t>, Krishna </a:t>
            </a:r>
            <a:r>
              <a:rPr lang="en-US" sz="2000" dirty="0" err="1">
                <a:latin typeface="Times New Roman" pitchFamily="18" charset="0"/>
                <a:cs typeface="Times New Roman" pitchFamily="18" charset="0"/>
              </a:rPr>
              <a:t>PreethamBhavirisetty</a:t>
            </a:r>
            <a:r>
              <a:rPr lang="en-US" sz="2000" dirty="0">
                <a:latin typeface="Times New Roman" pitchFamily="18" charset="0"/>
                <a:cs typeface="Times New Roman" pitchFamily="18" charset="0"/>
              </a:rPr>
              <a:t>, Sharmila Golla</a:t>
            </a:r>
          </a:p>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Published by &amp; Year: Big Data,2023 </a:t>
            </a:r>
          </a:p>
          <a:p>
            <a:pPr>
              <a:lnSpc>
                <a:spcPct val="120000"/>
              </a:lnSpc>
            </a:pPr>
            <a:r>
              <a:rPr lang="en-US" sz="2000" dirty="0">
                <a:latin typeface="Times New Roman" pitchFamily="18" charset="0"/>
                <a:cs typeface="Times New Roman" pitchFamily="18" charset="0"/>
              </a:rPr>
              <a:t>If the early symptoms of irregular functioning of the heart are ignored, the patient may suffer severe consequences in little time limit. The number of people with cardiovascular breakdown has been steadily increasing. The challenge of predicting the existence of any Coronary Heart Disease[CHD] in people refers to the task of visiting the healthcare provider, getting numerous tests, waiting for hours and wasting precious time and energy. To get out of this perilous condition and reduce the risk of heart failure, a system that can develop rules or categorize data using applicable live methodologies is required. </a:t>
            </a:r>
          </a:p>
        </p:txBody>
      </p:sp>
      <p:sp>
        <p:nvSpPr>
          <p:cNvPr id="76" name="Google Shape;7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7</a:t>
            </a:fld>
            <a:endParaRPr/>
          </a:p>
        </p:txBody>
      </p:sp>
      <p:sp>
        <p:nvSpPr>
          <p:cNvPr id="77" name="Google Shape;77;p14"/>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dirty="0"/>
              <a:t>Literature Survey -  Base paper</a:t>
            </a:r>
            <a:endParaRPr dirty="0"/>
          </a:p>
        </p:txBody>
      </p:sp>
      <p:sp>
        <p:nvSpPr>
          <p:cNvPr id="78" name="Google Shape;78;p14"/>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spTree>
    <p:extLst>
      <p:ext uri="{BB962C8B-B14F-4D97-AF65-F5344CB8AC3E}">
        <p14:creationId xmlns:p14="http://schemas.microsoft.com/office/powerpoint/2010/main" val="459674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4"/>
          <p:cNvSpPr txBox="1">
            <a:spLocks noGrp="1"/>
          </p:cNvSpPr>
          <p:nvPr>
            <p:ph type="body" idx="1"/>
          </p:nvPr>
        </p:nvSpPr>
        <p:spPr>
          <a:xfrm>
            <a:off x="409073" y="1825624"/>
            <a:ext cx="11502189" cy="4527049"/>
          </a:xfrm>
          <a:prstGeom prst="rect">
            <a:avLst/>
          </a:prstGeom>
          <a:noFill/>
          <a:ln>
            <a:noFill/>
          </a:ln>
        </p:spPr>
        <p:txBody>
          <a:bodyPr spcFirstLastPara="1" wrap="square" lIns="91425" tIns="45700" rIns="91425" bIns="45700" anchor="t" anchorCtr="0">
            <a:normAutofit lnSpcReduction="10000"/>
          </a:bodyPr>
          <a:lstStyle/>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Paper 3: </a:t>
            </a:r>
            <a:r>
              <a:rPr lang="en-US" sz="2000" b="0" i="0" u="none" strike="noStrike" cap="none" dirty="0">
                <a:solidFill>
                  <a:schemeClr val="dk1"/>
                </a:solidFill>
                <a:effectLst/>
                <a:latin typeface="Times New Roman" panose="02020603050405020304" pitchFamily="18" charset="0"/>
                <a:ea typeface="Arial"/>
                <a:cs typeface="Times New Roman" panose="02020603050405020304" pitchFamily="18" charset="0"/>
                <a:sym typeface="Arial" panose="020B0604020202020204"/>
              </a:rPr>
              <a:t>A deep learning approach for remote heart rate estimation</a:t>
            </a:r>
            <a:endParaRPr lang="en-US" sz="2000" dirty="0">
              <a:latin typeface="Times New Roman" pitchFamily="18" charset="0"/>
              <a:cs typeface="Times New Roman" pitchFamily="18" charset="0"/>
            </a:endParaRPr>
          </a:p>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Authors: </a:t>
            </a:r>
            <a:r>
              <a:rPr lang="en-US" sz="2000" dirty="0" err="1">
                <a:latin typeface="Times New Roman" pitchFamily="18" charset="0"/>
                <a:cs typeface="Times New Roman" pitchFamily="18" charset="0"/>
              </a:rPr>
              <a:t>Jaramir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Przbylo</a:t>
            </a:r>
            <a:endParaRPr lang="en-US" sz="2000" dirty="0">
              <a:latin typeface="Times New Roman" pitchFamily="18" charset="0"/>
              <a:cs typeface="Times New Roman" pitchFamily="18" charset="0"/>
            </a:endParaRPr>
          </a:p>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Published by &amp; Year: ScienceDirect 2022</a:t>
            </a:r>
          </a:p>
          <a:p>
            <a:pPr>
              <a:lnSpc>
                <a:spcPct val="120000"/>
              </a:lnSpc>
            </a:pPr>
            <a:r>
              <a:rPr lang="en-US" sz="2000" b="0" i="0" dirty="0">
                <a:solidFill>
                  <a:srgbClr val="1F1F1F"/>
                </a:solidFill>
                <a:effectLst/>
                <a:latin typeface="Times New Roman" panose="02020603050405020304" pitchFamily="18" charset="0"/>
                <a:cs typeface="Times New Roman" panose="02020603050405020304" pitchFamily="18" charset="0"/>
              </a:rPr>
              <a:t>A reliable noncontact monitoring of cardiovascular parameters with the use of </a:t>
            </a:r>
            <a:r>
              <a:rPr lang="en-US" sz="2000" b="0" i="0" dirty="0" err="1">
                <a:solidFill>
                  <a:srgbClr val="1F1F1F"/>
                </a:solidFill>
                <a:effectLst/>
                <a:latin typeface="Times New Roman" panose="02020603050405020304" pitchFamily="18" charset="0"/>
                <a:cs typeface="Times New Roman" panose="02020603050405020304" pitchFamily="18" charset="0"/>
              </a:rPr>
              <a:t>videoplethysmography</a:t>
            </a:r>
            <a:r>
              <a:rPr lang="en-US" sz="2000" b="0" i="0" dirty="0">
                <a:solidFill>
                  <a:srgbClr val="1F1F1F"/>
                </a:solidFill>
                <a:effectLst/>
                <a:latin typeface="Times New Roman" panose="02020603050405020304" pitchFamily="18" charset="0"/>
                <a:cs typeface="Times New Roman" panose="02020603050405020304" pitchFamily="18" charset="0"/>
              </a:rPr>
              <a:t> can be difficult, because many factors can introduce noise to the signal, e.g., subject movement and illumination changes. Thus, many signal preprocessing algorithms and VPG extraction methods have been developed to form the VPG signal and improve its quality. They usually consist of several steps, which require careful parameter selection. In contrast, in this paper, a new method of VPG signal processing based on the LSTM network is introduced. It is intended to replace the VPG signal pre- and post-processing stages, consequently reducing the number of algorithm parameters that affect the accuracy of the HR estimation.</a:t>
            </a:r>
            <a:endParaRPr lang="en-US" sz="2000" dirty="0">
              <a:latin typeface="Times New Roman" panose="02020603050405020304" pitchFamily="18" charset="0"/>
              <a:cs typeface="Times New Roman" pitchFamily="18" charset="0"/>
            </a:endParaRPr>
          </a:p>
          <a:p>
            <a:pPr>
              <a:lnSpc>
                <a:spcPct val="120000"/>
              </a:lnSpc>
            </a:pPr>
            <a:endParaRPr sz="2000" dirty="0">
              <a:latin typeface="Times New Roman" pitchFamily="18" charset="0"/>
              <a:cs typeface="Times New Roman" pitchFamily="18" charset="0"/>
            </a:endParaRPr>
          </a:p>
        </p:txBody>
      </p:sp>
      <p:sp>
        <p:nvSpPr>
          <p:cNvPr id="76" name="Google Shape;7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8</a:t>
            </a:fld>
            <a:endParaRPr/>
          </a:p>
        </p:txBody>
      </p:sp>
      <p:sp>
        <p:nvSpPr>
          <p:cNvPr id="77" name="Google Shape;77;p14"/>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dirty="0"/>
              <a:t>Literature Survey -  Base paper</a:t>
            </a:r>
            <a:endParaRPr dirty="0"/>
          </a:p>
        </p:txBody>
      </p:sp>
      <p:sp>
        <p:nvSpPr>
          <p:cNvPr id="78" name="Google Shape;78;p14"/>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spTree>
    <p:extLst>
      <p:ext uri="{BB962C8B-B14F-4D97-AF65-F5344CB8AC3E}">
        <p14:creationId xmlns:p14="http://schemas.microsoft.com/office/powerpoint/2010/main" val="459674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3C12F-341C-F6C3-739A-E138C93FCE3D}"/>
              </a:ext>
            </a:extLst>
          </p:cNvPr>
          <p:cNvSpPr>
            <a:spLocks noGrp="1"/>
          </p:cNvSpPr>
          <p:nvPr>
            <p:ph type="ctrTitle"/>
          </p:nvPr>
        </p:nvSpPr>
        <p:spPr>
          <a:xfrm>
            <a:off x="1524000" y="533400"/>
            <a:ext cx="9144000" cy="814388"/>
          </a:xfrm>
        </p:spPr>
        <p:txBody>
          <a:bodyPr>
            <a:normAutofit/>
          </a:bodyPr>
          <a:lstStyle/>
          <a:p>
            <a:r>
              <a:rPr lang="en-US" sz="4400" dirty="0"/>
              <a:t>Literature Survey -  Base paper</a:t>
            </a:r>
            <a:endParaRPr lang="en-IN" sz="4400" dirty="0"/>
          </a:p>
        </p:txBody>
      </p:sp>
      <p:sp>
        <p:nvSpPr>
          <p:cNvPr id="3" name="Subtitle 2">
            <a:extLst>
              <a:ext uri="{FF2B5EF4-FFF2-40B4-BE49-F238E27FC236}">
                <a16:creationId xmlns:a16="http://schemas.microsoft.com/office/drawing/2014/main" id="{3EF38C00-CA6E-24C6-B414-2B6211EC19E5}"/>
              </a:ext>
            </a:extLst>
          </p:cNvPr>
          <p:cNvSpPr>
            <a:spLocks noGrp="1"/>
          </p:cNvSpPr>
          <p:nvPr>
            <p:ph type="subTitle" idx="1"/>
          </p:nvPr>
        </p:nvSpPr>
        <p:spPr>
          <a:xfrm>
            <a:off x="466725" y="1552575"/>
            <a:ext cx="11029950" cy="4324350"/>
          </a:xfrm>
        </p:spPr>
        <p:txBody>
          <a:bodyPr>
            <a:noAutofit/>
          </a:bodyPr>
          <a:lstStyle/>
          <a:p>
            <a:pPr indent="-342900" algn="l">
              <a:lnSpc>
                <a:spcPct val="120000"/>
              </a:lnSpc>
              <a:buSzPts val="1800"/>
              <a:buFont typeface="Noto Sans Symbols"/>
              <a:buChar char="❑"/>
            </a:pPr>
            <a:r>
              <a:rPr lang="en-US" sz="2000" dirty="0">
                <a:latin typeface="Times New Roman" panose="02020603050405020304" pitchFamily="18" charset="0"/>
                <a:cs typeface="Times New Roman" pitchFamily="18" charset="0"/>
              </a:rPr>
              <a:t>Paper 4:</a:t>
            </a:r>
            <a:r>
              <a:rPr lang="en-US" sz="2000" b="0" i="0" dirty="0">
                <a:solidFill>
                  <a:srgbClr val="1F1F1F"/>
                </a:solidFill>
                <a:effectLst/>
                <a:latin typeface="Times New Roman" panose="02020603050405020304" pitchFamily="18" charset="0"/>
                <a:cs typeface="Times New Roman" panose="02020603050405020304" pitchFamily="18" charset="0"/>
              </a:rPr>
              <a:t>Inertial measurement and heart-rate sensor-based dataset for geriatric fall detection using custom built wrist-worn device</a:t>
            </a:r>
            <a:endParaRPr lang="en-US" sz="2000" dirty="0">
              <a:latin typeface="Times New Roman" pitchFamily="18" charset="0"/>
              <a:cs typeface="Times New Roman" pitchFamily="18" charset="0"/>
            </a:endParaRPr>
          </a:p>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Authors: </a:t>
            </a:r>
            <a:r>
              <a:rPr lang="en-US" sz="2000" dirty="0" err="1">
                <a:latin typeface="Times New Roman" panose="02020603050405020304" pitchFamily="18" charset="0"/>
                <a:cs typeface="Times New Roman" pitchFamily="18" charset="0"/>
              </a:rPr>
              <a:t>Purab</a:t>
            </a:r>
            <a:r>
              <a:rPr lang="en-US" sz="2000" dirty="0">
                <a:latin typeface="Times New Roman" panose="02020603050405020304" pitchFamily="18" charset="0"/>
                <a:cs typeface="Times New Roman" pitchFamily="18" charset="0"/>
              </a:rPr>
              <a:t> </a:t>
            </a:r>
            <a:r>
              <a:rPr lang="en-US" sz="2000" dirty="0" err="1">
                <a:latin typeface="Times New Roman" panose="02020603050405020304" pitchFamily="18" charset="0"/>
                <a:cs typeface="Times New Roman" pitchFamily="18" charset="0"/>
              </a:rPr>
              <a:t>Nandi,K.R.Anupama,Himanish</a:t>
            </a:r>
            <a:r>
              <a:rPr lang="en-US" sz="2000" dirty="0">
                <a:latin typeface="Times New Roman" pitchFamily="18" charset="0"/>
                <a:cs typeface="Times New Roman" pitchFamily="18" charset="0"/>
              </a:rPr>
              <a:t> Agarwal, Krishan Patel, Vedant Bang.</a:t>
            </a:r>
          </a:p>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Published by &amp; Year: </a:t>
            </a:r>
            <a:r>
              <a:rPr lang="en-US" sz="2000" dirty="0" err="1">
                <a:latin typeface="Times New Roman" pitchFamily="18" charset="0"/>
                <a:cs typeface="Times New Roman" pitchFamily="18" charset="0"/>
              </a:rPr>
              <a:t>ScienceDirect</a:t>
            </a:r>
            <a:r>
              <a:rPr lang="en-US" sz="2000" dirty="0">
                <a:latin typeface="Times New Roman" pitchFamily="18" charset="0"/>
                <a:cs typeface="Times New Roman" pitchFamily="18" charset="0"/>
              </a:rPr>
              <a:t>  2022</a:t>
            </a:r>
          </a:p>
          <a:p>
            <a:pPr marL="457200" lvl="0" indent="-342900" algn="l" rtl="0">
              <a:lnSpc>
                <a:spcPct val="120000"/>
              </a:lnSpc>
              <a:spcBef>
                <a:spcPts val="1000"/>
              </a:spcBef>
              <a:spcAft>
                <a:spcPts val="0"/>
              </a:spcAft>
              <a:buSzPts val="1800"/>
              <a:buFont typeface="Arial" panose="020B0604020202020204" pitchFamily="34" charset="0"/>
              <a:buChar char="•"/>
            </a:pPr>
            <a:r>
              <a:rPr lang="en-US" sz="2000" b="0" i="0" dirty="0">
                <a:solidFill>
                  <a:srgbClr val="1F1F1F"/>
                </a:solidFill>
                <a:effectLst/>
                <a:latin typeface="Times New Roman" panose="02020603050405020304" pitchFamily="18" charset="0"/>
                <a:cs typeface="Times New Roman" panose="02020603050405020304" pitchFamily="18" charset="0"/>
              </a:rPr>
              <a:t>This paper describes a dataset acquired from 41 volunteers performing 16 Activities of daily livings (ADLs) and 8 Falls repeated 5 times. This data was collected using a custom wrist-worn end device. The dataset has data collected from Inertial measurement unit (IMU) and heart-rate sensors. The end device is built using Qualcomm Snapdragon 820c System on Chip (SoC) interfaced to the sensors via Interconnect Integrated Circuit (I2C) protocol. The data was sampled for every activity at a rate of 20 Hz for the motion sensors and at a rate of 1 Hz for the heart-rate sensor. The motion sensor comprised of a triaxial accelerometer, triaxial gyroscope, triaxial magnetometer and a linear accelerometer. The heart-rate sensor was medical grade and all sensors were calibrated for the wrist -worn position. </a:t>
            </a:r>
            <a:endParaRPr lang="en-US" sz="2000" dirty="0">
              <a:latin typeface="Times New Roman" panose="02020603050405020304" pitchFamily="18" charset="0"/>
              <a:cs typeface="Times New Roman"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257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5"/>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dirty="0"/>
              <a:t>Existing Systems</a:t>
            </a:r>
            <a:endParaRPr dirty="0"/>
          </a:p>
        </p:txBody>
      </p:sp>
      <p:sp>
        <p:nvSpPr>
          <p:cNvPr id="84" name="Google Shape;84;p15"/>
          <p:cNvSpPr txBox="1">
            <a:spLocks noGrp="1"/>
          </p:cNvSpPr>
          <p:nvPr>
            <p:ph type="body" idx="1"/>
          </p:nvPr>
        </p:nvSpPr>
        <p:spPr>
          <a:xfrm>
            <a:off x="412376" y="1825624"/>
            <a:ext cx="10941424" cy="4530725"/>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endParaRPr/>
          </a:p>
          <a:p>
            <a:pPr marL="114300" lvl="0" indent="0" algn="l" rtl="0">
              <a:lnSpc>
                <a:spcPct val="90000"/>
              </a:lnSpc>
              <a:spcBef>
                <a:spcPts val="1000"/>
              </a:spcBef>
              <a:spcAft>
                <a:spcPts val="0"/>
              </a:spcAft>
              <a:buSzPts val="1800"/>
              <a:buNone/>
            </a:pPr>
            <a:endParaRPr/>
          </a:p>
          <a:p>
            <a:pPr marL="114300" lvl="0" indent="0" algn="l" rtl="0">
              <a:lnSpc>
                <a:spcPct val="90000"/>
              </a:lnSpc>
              <a:spcBef>
                <a:spcPts val="1000"/>
              </a:spcBef>
              <a:spcAft>
                <a:spcPts val="0"/>
              </a:spcAft>
              <a:buSzPts val="1800"/>
              <a:buNone/>
            </a:pPr>
            <a:endParaRPr/>
          </a:p>
        </p:txBody>
      </p:sp>
      <p:sp>
        <p:nvSpPr>
          <p:cNvPr id="85" name="Google Shape;85;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10</a:t>
            </a:fld>
            <a:endParaRPr/>
          </a:p>
        </p:txBody>
      </p:sp>
      <p:sp>
        <p:nvSpPr>
          <p:cNvPr id="87" name="Google Shape;87;p15"/>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sp>
        <p:nvSpPr>
          <p:cNvPr id="5" name="Rectangle 3">
            <a:extLst>
              <a:ext uri="{FF2B5EF4-FFF2-40B4-BE49-F238E27FC236}">
                <a16:creationId xmlns:a16="http://schemas.microsoft.com/office/drawing/2014/main" id="{6D0CAE35-37F9-30BE-178F-545046AD7EB4}"/>
              </a:ext>
            </a:extLst>
          </p:cNvPr>
          <p:cNvSpPr>
            <a:spLocks noChangeArrowheads="1"/>
          </p:cNvSpPr>
          <p:nvPr/>
        </p:nvSpPr>
        <p:spPr bwMode="auto">
          <a:xfrm>
            <a:off x="1592826" y="378485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4">
            <a:extLst>
              <a:ext uri="{FF2B5EF4-FFF2-40B4-BE49-F238E27FC236}">
                <a16:creationId xmlns:a16="http://schemas.microsoft.com/office/drawing/2014/main" id="{E82FA03E-D9C1-4E20-4E64-7E3B5B5D1A3A}"/>
              </a:ext>
            </a:extLst>
          </p:cNvPr>
          <p:cNvSpPr>
            <a:spLocks noChangeArrowheads="1"/>
          </p:cNvSpPr>
          <p:nvPr/>
        </p:nvSpPr>
        <p:spPr bwMode="auto">
          <a:xfrm>
            <a:off x="582425" y="1874637"/>
            <a:ext cx="10941424"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Threshold-Based Monitoring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Simple rule-based alerts when heart rate crosses set limits.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Classification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Models like SVM classify heart rates as normal or abnormal based on labeled data.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Signal Processing Techniques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Methods like FFT and Wavelet Transform analyze heart rate variability to detect irregularities.</a:t>
            </a:r>
          </a:p>
          <a:p>
            <a:pPr marL="0" marR="0" lvl="0" indent="0" algn="just" defTabSz="914400" rtl="0" eaLnBrk="0" fontAlgn="base" latinLnBrk="0" hangingPunct="0">
              <a:lnSpc>
                <a:spcPct val="100000"/>
              </a:lnSpc>
              <a:spcBef>
                <a:spcPct val="0"/>
              </a:spcBef>
              <a:spcAft>
                <a:spcPct val="0"/>
              </a:spcAft>
              <a:buClrTx/>
              <a:buSzTx/>
              <a:buFontTx/>
              <a:buChar char="•"/>
              <a:tabLst/>
            </a:pPr>
            <a:r>
              <a:rPr lang="en-US" sz="2400" b="1" dirty="0">
                <a:latin typeface="Times New Roman" pitchFamily="18" charset="0"/>
                <a:cs typeface="Times New Roman" pitchFamily="18" charset="0"/>
              </a:rPr>
              <a:t>Deep Learning:</a:t>
            </a:r>
            <a:r>
              <a:rPr lang="en-US" sz="2400" dirty="0">
                <a:latin typeface="Times New Roman" pitchFamily="18" charset="0"/>
                <a:cs typeface="Times New Roman" pitchFamily="18" charset="0"/>
              </a:rPr>
              <a:t> Utilizing advanced neural network architectures for complex sequence prediction and anomaly detection in heart rate patterns. </a:t>
            </a:r>
          </a:p>
          <a:p>
            <a:pPr marL="0" marR="0" lvl="0" indent="0" algn="just" defTabSz="914400" rtl="0" eaLnBrk="0" fontAlgn="base" latinLnBrk="0" hangingPunct="0">
              <a:lnSpc>
                <a:spcPct val="100000"/>
              </a:lnSpc>
              <a:spcBef>
                <a:spcPct val="0"/>
              </a:spcBef>
              <a:spcAft>
                <a:spcPct val="0"/>
              </a:spcAft>
              <a:buClrTx/>
              <a:buSzTx/>
              <a:buFontTx/>
              <a:buChar char="•"/>
              <a:tabLst/>
            </a:pPr>
            <a:r>
              <a:rPr lang="en-US" sz="2400" b="1" dirty="0" err="1">
                <a:latin typeface="Times New Roman" pitchFamily="18" charset="0"/>
                <a:cs typeface="Times New Roman" pitchFamily="18" charset="0"/>
              </a:rPr>
              <a:t>Kalman</a:t>
            </a:r>
            <a:r>
              <a:rPr lang="en-US" sz="2400" b="1" dirty="0">
                <a:latin typeface="Times New Roman" pitchFamily="18" charset="0"/>
                <a:cs typeface="Times New Roman" pitchFamily="18" charset="0"/>
              </a:rPr>
              <a:t> Filters:</a:t>
            </a:r>
            <a:r>
              <a:rPr lang="en-US" sz="2400" dirty="0">
                <a:latin typeface="Times New Roman" pitchFamily="18" charset="0"/>
                <a:cs typeface="Times New Roman" pitchFamily="18" charset="0"/>
              </a:rPr>
              <a:t> Employing statistical algorithms for real-time noise reduction and estimation of the underlying heart rate signal.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Existing Systems</a:t>
            </a:r>
          </a:p>
        </p:txBody>
      </p:sp>
      <p:sp>
        <p:nvSpPr>
          <p:cNvPr id="3" name="Text Placeholder 2"/>
          <p:cNvSpPr>
            <a:spLocks noGrp="1"/>
          </p:cNvSpPr>
          <p:nvPr>
            <p:ph type="body" idx="1"/>
          </p:nvPr>
        </p:nvSpPr>
        <p:spPr/>
        <p:txBody>
          <a:bodyPr>
            <a:normAutofit/>
          </a:bodyPr>
          <a:lstStyle/>
          <a:p>
            <a:pPr>
              <a:buNone/>
            </a:pPr>
            <a:r>
              <a:rPr lang="en-US" dirty="0"/>
              <a:t> </a:t>
            </a:r>
          </a:p>
          <a:p>
            <a:pPr algn="just"/>
            <a:r>
              <a:rPr lang="en-US" sz="2400" b="1" dirty="0">
                <a:latin typeface="Times New Roman" pitchFamily="18" charset="0"/>
                <a:cs typeface="Times New Roman" pitchFamily="18" charset="0"/>
              </a:rPr>
              <a:t>Hidden Markov Models:</a:t>
            </a:r>
            <a:r>
              <a:rPr lang="en-US" sz="2400" dirty="0">
                <a:latin typeface="Times New Roman" pitchFamily="18" charset="0"/>
                <a:cs typeface="Times New Roman" pitchFamily="18" charset="0"/>
              </a:rPr>
              <a:t> Using probabilistic models to track underlying physiological states based on observed heart rate data.</a:t>
            </a:r>
          </a:p>
          <a:p>
            <a:pPr algn="just"/>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Moving Average:</a:t>
            </a:r>
            <a:r>
              <a:rPr lang="en-US" sz="2400" dirty="0">
                <a:latin typeface="Times New Roman" pitchFamily="18" charset="0"/>
                <a:cs typeface="Times New Roman" pitchFamily="18" charset="0"/>
              </a:rPr>
              <a:t> A simple technique for smoothing out short-term fluctuations and identifying general trends in heart rate.</a:t>
            </a:r>
          </a:p>
          <a:p>
            <a:pPr algn="just"/>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Clustering:</a:t>
            </a:r>
            <a:r>
              <a:rPr lang="en-US" sz="2400" dirty="0">
                <a:latin typeface="Times New Roman" pitchFamily="18" charset="0"/>
                <a:cs typeface="Times New Roman" pitchFamily="18" charset="0"/>
              </a:rPr>
              <a:t> Applying unsupervised learning algorithms to discover natural groupings or patterns within the heart rate data, potentially highlighting anomalies.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6"/>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a:t>Limitations</a:t>
            </a:r>
            <a:endParaRPr/>
          </a:p>
        </p:txBody>
      </p:sp>
      <p:sp>
        <p:nvSpPr>
          <p:cNvPr id="93" name="Google Shape;93;p16"/>
          <p:cNvSpPr txBox="1">
            <a:spLocks noGrp="1"/>
          </p:cNvSpPr>
          <p:nvPr>
            <p:ph type="body" idx="1"/>
          </p:nvPr>
        </p:nvSpPr>
        <p:spPr>
          <a:xfrm>
            <a:off x="638176" y="1704975"/>
            <a:ext cx="10515600" cy="4351338"/>
          </a:xfrm>
          <a:prstGeom prst="rect">
            <a:avLst/>
          </a:prstGeom>
          <a:noFill/>
          <a:ln>
            <a:noFill/>
          </a:ln>
        </p:spPr>
        <p:txBody>
          <a:bodyPr spcFirstLastPara="1" wrap="square" lIns="91425" tIns="45700" rIns="91425" bIns="45700" anchor="t" anchorCtr="0">
            <a:noAutofit/>
          </a:bodyPr>
          <a:lstStyle/>
          <a:p>
            <a:pPr algn="just">
              <a:buFont typeface="+mj-lt"/>
              <a:buAutoNum type="arabicPeriod"/>
            </a:pPr>
            <a:r>
              <a:rPr lang="en-US" sz="2400" b="1" dirty="0">
                <a:latin typeface="Times New Roman" pitchFamily="18" charset="0"/>
                <a:cs typeface="Times New Roman" pitchFamily="18" charset="0"/>
              </a:rPr>
              <a:t>Sensor Accuracy</a:t>
            </a:r>
            <a:r>
              <a:rPr lang="en-US" sz="2400" dirty="0">
                <a:latin typeface="Times New Roman" pitchFamily="18" charset="0"/>
                <a:cs typeface="Times New Roman" pitchFamily="18" charset="0"/>
              </a:rPr>
              <a:t> – Motion artifacts, poor skin contact, or environmental factors may cause false alerts or missed abnormalities.</a:t>
            </a:r>
          </a:p>
          <a:p>
            <a:pPr algn="just">
              <a:buFont typeface="+mj-lt"/>
              <a:buAutoNum type="arabicPeriod"/>
            </a:pPr>
            <a:r>
              <a:rPr lang="en-US" sz="2400" b="1" dirty="0">
                <a:latin typeface="Times New Roman" pitchFamily="18" charset="0"/>
                <a:cs typeface="Times New Roman" pitchFamily="18" charset="0"/>
              </a:rPr>
              <a:t>Battery Life</a:t>
            </a:r>
            <a:r>
              <a:rPr lang="en-US" sz="2400" dirty="0">
                <a:latin typeface="Times New Roman" pitchFamily="18" charset="0"/>
                <a:cs typeface="Times New Roman" pitchFamily="18" charset="0"/>
              </a:rPr>
              <a:t> – Continuous monitoring and GPS tracking drain battery quickly.</a:t>
            </a:r>
          </a:p>
          <a:p>
            <a:pPr algn="just">
              <a:buFont typeface="+mj-lt"/>
              <a:buAutoNum type="arabicPeriod"/>
            </a:pPr>
            <a:r>
              <a:rPr lang="en-US" sz="2400" b="1" dirty="0">
                <a:latin typeface="Times New Roman" pitchFamily="18" charset="0"/>
                <a:cs typeface="Times New Roman" pitchFamily="18" charset="0"/>
              </a:rPr>
              <a:t>Privacy Concerns</a:t>
            </a:r>
            <a:r>
              <a:rPr lang="en-US" sz="2400" dirty="0">
                <a:latin typeface="Times New Roman" pitchFamily="18" charset="0"/>
                <a:cs typeface="Times New Roman" pitchFamily="18" charset="0"/>
              </a:rPr>
              <a:t> – Location and health data transmission require strong encryption.</a:t>
            </a:r>
          </a:p>
          <a:p>
            <a:pPr algn="just">
              <a:buFont typeface="+mj-lt"/>
              <a:buAutoNum type="arabicPeriod"/>
            </a:pPr>
            <a:r>
              <a:rPr lang="en-US" sz="2400" b="1" dirty="0">
                <a:latin typeface="Times New Roman" pitchFamily="18" charset="0"/>
                <a:cs typeface="Times New Roman" pitchFamily="18" charset="0"/>
              </a:rPr>
              <a:t>AI Misinterpretation</a:t>
            </a:r>
            <a:r>
              <a:rPr lang="en-US" sz="2400" dirty="0">
                <a:latin typeface="Times New Roman" pitchFamily="18" charset="0"/>
                <a:cs typeface="Times New Roman" pitchFamily="18" charset="0"/>
              </a:rPr>
              <a:t> – The chatbot may provide incorrect advice in complex cases.</a:t>
            </a:r>
          </a:p>
          <a:p>
            <a:pPr algn="just">
              <a:buFont typeface="+mj-lt"/>
              <a:buAutoNum type="arabicPeriod"/>
            </a:pPr>
            <a:r>
              <a:rPr lang="en-US" sz="2400" b="1" dirty="0">
                <a:latin typeface="Times New Roman" pitchFamily="18" charset="0"/>
                <a:cs typeface="Times New Roman" pitchFamily="18" charset="0"/>
              </a:rPr>
              <a:t>Network Dependency</a:t>
            </a:r>
            <a:r>
              <a:rPr lang="en-US" sz="2400" dirty="0">
                <a:latin typeface="Times New Roman" pitchFamily="18" charset="0"/>
                <a:cs typeface="Times New Roman" pitchFamily="18" charset="0"/>
              </a:rPr>
              <a:t> – Functionality relies on stable internet, which may be unreliable in remote areas.</a:t>
            </a:r>
          </a:p>
          <a:p>
            <a:pPr algn="just">
              <a:buFont typeface="+mj-lt"/>
              <a:buAutoNum type="arabicPeriod"/>
            </a:pPr>
            <a:r>
              <a:rPr lang="en-US" sz="2400" b="1" dirty="0">
                <a:latin typeface="Times New Roman" pitchFamily="18" charset="0"/>
                <a:cs typeface="Times New Roman" pitchFamily="18" charset="0"/>
              </a:rPr>
              <a:t>Response Delay</a:t>
            </a:r>
            <a:r>
              <a:rPr lang="en-US" sz="2400" dirty="0">
                <a:latin typeface="Times New Roman" pitchFamily="18" charset="0"/>
                <a:cs typeface="Times New Roman" pitchFamily="18" charset="0"/>
              </a:rPr>
              <a:t> – Delays in alerting emergency services m</a:t>
            </a:r>
            <a:r>
              <a:rPr lang="en-US" sz="2400" dirty="0"/>
              <a:t>ay affect timely intervention.</a:t>
            </a:r>
          </a:p>
        </p:txBody>
      </p:sp>
      <p:sp>
        <p:nvSpPr>
          <p:cNvPr id="94" name="Google Shape;9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12</a:t>
            </a:fld>
            <a:endParaRPr/>
          </a:p>
        </p:txBody>
      </p:sp>
      <p:sp>
        <p:nvSpPr>
          <p:cNvPr id="95" name="Google Shape;95;p16"/>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9"/>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dirty="0"/>
              <a:t>Proposed System</a:t>
            </a:r>
            <a:endParaRPr dirty="0"/>
          </a:p>
        </p:txBody>
      </p:sp>
      <p:sp>
        <p:nvSpPr>
          <p:cNvPr id="117" name="Google Shape;117;p19"/>
          <p:cNvSpPr txBox="1">
            <a:spLocks noGrp="1"/>
          </p:cNvSpPr>
          <p:nvPr>
            <p:ph type="body" idx="1"/>
          </p:nvPr>
        </p:nvSpPr>
        <p:spPr>
          <a:xfrm>
            <a:off x="666750" y="1876425"/>
            <a:ext cx="10515600" cy="4351338"/>
          </a:xfrm>
          <a:prstGeom prst="rect">
            <a:avLst/>
          </a:prstGeom>
          <a:noFill/>
          <a:ln>
            <a:noFill/>
          </a:ln>
        </p:spPr>
        <p:txBody>
          <a:bodyPr spcFirstLastPara="1" wrap="square" lIns="91425" tIns="45700" rIns="91425" bIns="45700" anchor="t" anchorCtr="0">
            <a:normAutofit lnSpcReduction="10000"/>
          </a:bodyPr>
          <a:lstStyle/>
          <a:p>
            <a:pPr>
              <a:lnSpc>
                <a:spcPct val="100000"/>
              </a:lnSpc>
            </a:pPr>
            <a:r>
              <a:rPr lang="en-US" sz="2400" dirty="0">
                <a:latin typeface="Times New Roman" panose="02020603050405020304" pitchFamily="18" charset="0"/>
                <a:cs typeface="Times New Roman" panose="02020603050405020304" pitchFamily="18" charset="0"/>
              </a:rPr>
              <a:t>The proposed system integrates </a:t>
            </a:r>
            <a:r>
              <a:rPr lang="en-US" sz="2400" b="1" dirty="0">
                <a:latin typeface="Times New Roman" panose="02020603050405020304" pitchFamily="18" charset="0"/>
                <a:cs typeface="Times New Roman" panose="02020603050405020304" pitchFamily="18" charset="0"/>
              </a:rPr>
              <a:t>PPG</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ECG sensors</a:t>
            </a:r>
            <a:r>
              <a:rPr lang="en-US" sz="2400" dirty="0">
                <a:latin typeface="Times New Roman" panose="02020603050405020304" pitchFamily="18" charset="0"/>
                <a:cs typeface="Times New Roman" panose="02020603050405020304" pitchFamily="18" charset="0"/>
              </a:rPr>
              <a:t> (e.g., AD8232), and </a:t>
            </a:r>
            <a:r>
              <a:rPr lang="en-US" sz="2400" b="1" dirty="0">
                <a:latin typeface="Times New Roman" panose="02020603050405020304" pitchFamily="18" charset="0"/>
                <a:cs typeface="Times New Roman" panose="02020603050405020304" pitchFamily="18" charset="0"/>
              </a:rPr>
              <a:t>accelerometers</a:t>
            </a:r>
            <a:r>
              <a:rPr lang="en-US" sz="2400" dirty="0">
                <a:latin typeface="Times New Roman" panose="02020603050405020304" pitchFamily="18" charset="0"/>
                <a:cs typeface="Times New Roman" panose="02020603050405020304" pitchFamily="18" charset="0"/>
              </a:rPr>
              <a:t> for accurate heart rate measurement, even during physical activity.</a:t>
            </a:r>
          </a:p>
          <a:p>
            <a:pPr>
              <a:lnSpc>
                <a:spcPct val="100000"/>
              </a:lnSpc>
            </a:pPr>
            <a:r>
              <a:rPr lang="en-US" sz="2400" dirty="0">
                <a:latin typeface="Times New Roman" panose="02020603050405020304" pitchFamily="18" charset="0"/>
                <a:cs typeface="Times New Roman" panose="02020603050405020304" pitchFamily="18" charset="0"/>
              </a:rPr>
              <a:t> It uses advanced </a:t>
            </a:r>
            <a:r>
              <a:rPr lang="en-US" sz="2400" b="1" dirty="0">
                <a:latin typeface="Times New Roman" panose="02020603050405020304" pitchFamily="18" charset="0"/>
                <a:cs typeface="Times New Roman" panose="02020603050405020304" pitchFamily="18" charset="0"/>
              </a:rPr>
              <a:t>signal processing</a:t>
            </a:r>
            <a:r>
              <a:rPr lang="en-US" sz="2400" dirty="0">
                <a:latin typeface="Times New Roman" panose="02020603050405020304" pitchFamily="18" charset="0"/>
                <a:cs typeface="Times New Roman" panose="02020603050405020304" pitchFamily="18" charset="0"/>
              </a:rPr>
              <a:t> to filter noise and compensate for motion artifacts, improving accuracy. </a:t>
            </a:r>
          </a:p>
          <a:p>
            <a:pPr>
              <a:lnSpc>
                <a:spcPct val="100000"/>
              </a:lnSpc>
            </a:pPr>
            <a:r>
              <a:rPr lang="en-US" sz="2400" dirty="0">
                <a:latin typeface="Times New Roman" panose="02020603050405020304" pitchFamily="18" charset="0"/>
                <a:cs typeface="Times New Roman" panose="02020603050405020304" pitchFamily="18" charset="0"/>
              </a:rPr>
              <a:t>The system provides </a:t>
            </a:r>
            <a:r>
              <a:rPr lang="en-US" sz="2400" b="1" dirty="0">
                <a:latin typeface="Times New Roman" panose="02020603050405020304" pitchFamily="18" charset="0"/>
                <a:cs typeface="Times New Roman" panose="02020603050405020304" pitchFamily="18" charset="0"/>
              </a:rPr>
              <a:t>real-time monitoring</a:t>
            </a:r>
            <a:r>
              <a:rPr lang="en-US" sz="2400" dirty="0">
                <a:latin typeface="Times New Roman" panose="02020603050405020304" pitchFamily="18" charset="0"/>
                <a:cs typeface="Times New Roman" panose="02020603050405020304" pitchFamily="18" charset="0"/>
              </a:rPr>
              <a:t> through mobile apps or dashboards, with </a:t>
            </a:r>
            <a:r>
              <a:rPr lang="en-US" sz="2400" b="1" dirty="0">
                <a:latin typeface="Times New Roman" panose="02020603050405020304" pitchFamily="18" charset="0"/>
                <a:cs typeface="Times New Roman" panose="02020603050405020304" pitchFamily="18" charset="0"/>
              </a:rPr>
              <a:t>anomaly detection</a:t>
            </a:r>
            <a:r>
              <a:rPr lang="en-US" sz="2400" dirty="0">
                <a:latin typeface="Times New Roman" panose="02020603050405020304" pitchFamily="18" charset="0"/>
                <a:cs typeface="Times New Roman" panose="02020603050405020304" pitchFamily="18" charset="0"/>
              </a:rPr>
              <a:t> (e.g., arrhythmias).</a:t>
            </a:r>
          </a:p>
          <a:p>
            <a:pPr>
              <a:lnSpc>
                <a:spcPct val="100000"/>
              </a:lnSpc>
            </a:pPr>
            <a:r>
              <a:rPr lang="en-US" sz="2400" dirty="0">
                <a:latin typeface="Times New Roman" panose="02020603050405020304" pitchFamily="18" charset="0"/>
                <a:cs typeface="Times New Roman" panose="02020603050405020304" pitchFamily="18" charset="0"/>
              </a:rPr>
              <a:t> Data is transmitted to </a:t>
            </a:r>
            <a:r>
              <a:rPr lang="en-US" sz="2400" b="1" dirty="0">
                <a:latin typeface="Times New Roman" panose="02020603050405020304" pitchFamily="18" charset="0"/>
                <a:cs typeface="Times New Roman" panose="02020603050405020304" pitchFamily="18" charset="0"/>
              </a:rPr>
              <a:t>cloud platforms</a:t>
            </a:r>
            <a:r>
              <a:rPr lang="en-US" sz="2400" dirty="0">
                <a:latin typeface="Times New Roman" panose="02020603050405020304" pitchFamily="18" charset="0"/>
                <a:cs typeface="Times New Roman" panose="02020603050405020304" pitchFamily="18" charset="0"/>
              </a:rPr>
              <a:t> for remote health tracking and long-term analysis.</a:t>
            </a:r>
          </a:p>
          <a:p>
            <a:pPr>
              <a:lnSpc>
                <a:spcPct val="100000"/>
              </a:lnSpc>
            </a:pPr>
            <a:r>
              <a:rPr lang="en-US" sz="2400" dirty="0">
                <a:latin typeface="Times New Roman" panose="02020603050405020304" pitchFamily="18" charset="0"/>
                <a:cs typeface="Times New Roman" panose="02020603050405020304" pitchFamily="18" charset="0"/>
              </a:rPr>
              <a:t> The system also compares sensor-derived heart rate data with </a:t>
            </a:r>
            <a:r>
              <a:rPr lang="en-US" sz="2400" b="1" dirty="0">
                <a:latin typeface="Times New Roman" panose="02020603050405020304" pitchFamily="18" charset="0"/>
                <a:cs typeface="Times New Roman" panose="02020603050405020304" pitchFamily="18" charset="0"/>
              </a:rPr>
              <a:t>gold-standard ECG</a:t>
            </a:r>
            <a:r>
              <a:rPr lang="en-US" sz="2400" dirty="0">
                <a:latin typeface="Times New Roman" panose="02020603050405020304" pitchFamily="18" charset="0"/>
                <a:cs typeface="Times New Roman" panose="02020603050405020304" pitchFamily="18" charset="0"/>
              </a:rPr>
              <a:t> measurements to ensure high accuracy</a:t>
            </a:r>
          </a:p>
          <a:p>
            <a:pPr marL="114300" lvl="0" indent="0" algn="l" rtl="0">
              <a:lnSpc>
                <a:spcPct val="100000"/>
              </a:lnSpc>
              <a:spcBef>
                <a:spcPts val="1000"/>
              </a:spcBef>
              <a:spcAft>
                <a:spcPts val="0"/>
              </a:spcAft>
              <a:buSzPts val="1800"/>
              <a:buNone/>
            </a:pPr>
            <a:endParaRPr sz="2200" dirty="0">
              <a:latin typeface="Times New Roman" pitchFamily="18" charset="0"/>
              <a:ea typeface="Times New Roman"/>
              <a:cs typeface="Times New Roman" pitchFamily="18" charset="0"/>
              <a:sym typeface="Times New Roman"/>
            </a:endParaRPr>
          </a:p>
        </p:txBody>
      </p:sp>
      <p:sp>
        <p:nvSpPr>
          <p:cNvPr id="118" name="Google Shape;11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13</a:t>
            </a:fld>
            <a:endParaRPr/>
          </a:p>
        </p:txBody>
      </p:sp>
      <p:sp>
        <p:nvSpPr>
          <p:cNvPr id="119" name="Google Shape;119;p19"/>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Block diagram</a:t>
            </a:r>
          </a:p>
        </p:txBody>
      </p:sp>
      <p:sp>
        <p:nvSpPr>
          <p:cNvPr id="3" name="Text Placeholder 2"/>
          <p:cNvSpPr>
            <a:spLocks noGrp="1"/>
          </p:cNvSpPr>
          <p:nvPr>
            <p:ph type="body" idx="1"/>
          </p:nvPr>
        </p:nvSpPr>
        <p:spPr/>
        <p:txBody>
          <a:bodyPr/>
          <a:lstStyle/>
          <a:p>
            <a:pPr marL="114300" indent="0">
              <a:buNone/>
            </a:pPr>
            <a:r>
              <a:rPr lang="en-US" dirty="0"/>
              <a:t>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14</a:t>
            </a:fld>
            <a:endParaRPr lang="en-US"/>
          </a:p>
        </p:txBody>
      </p:sp>
      <p:sp>
        <p:nvSpPr>
          <p:cNvPr id="7" name="TextBox 6">
            <a:extLst>
              <a:ext uri="{FF2B5EF4-FFF2-40B4-BE49-F238E27FC236}">
                <a16:creationId xmlns:a16="http://schemas.microsoft.com/office/drawing/2014/main" id="{1F40C539-076D-889B-EF9D-9F99F2EAFD9A}"/>
              </a:ext>
            </a:extLst>
          </p:cNvPr>
          <p:cNvSpPr txBox="1"/>
          <p:nvPr/>
        </p:nvSpPr>
        <p:spPr>
          <a:xfrm>
            <a:off x="324391" y="2581684"/>
            <a:ext cx="923230" cy="461664"/>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r>
              <a:rPr lang="en-IN" sz="2400" dirty="0">
                <a:latin typeface="Times New Roman" panose="02020603050405020304" pitchFamily="18" charset="0"/>
                <a:cs typeface="Times New Roman" panose="02020603050405020304" pitchFamily="18" charset="0"/>
              </a:rPr>
              <a:t>Start </a:t>
            </a:r>
          </a:p>
        </p:txBody>
      </p:sp>
      <p:sp>
        <p:nvSpPr>
          <p:cNvPr id="8" name="TextBox 7">
            <a:extLst>
              <a:ext uri="{FF2B5EF4-FFF2-40B4-BE49-F238E27FC236}">
                <a16:creationId xmlns:a16="http://schemas.microsoft.com/office/drawing/2014/main" id="{EC9E2D83-690C-ECDD-91A7-F846B7652BA4}"/>
              </a:ext>
            </a:extLst>
          </p:cNvPr>
          <p:cNvSpPr txBox="1"/>
          <p:nvPr/>
        </p:nvSpPr>
        <p:spPr>
          <a:xfrm>
            <a:off x="2162178" y="2615131"/>
            <a:ext cx="1713698"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Collect data</a:t>
            </a:r>
          </a:p>
        </p:txBody>
      </p:sp>
      <p:sp>
        <p:nvSpPr>
          <p:cNvPr id="9" name="TextBox 8">
            <a:extLst>
              <a:ext uri="{FF2B5EF4-FFF2-40B4-BE49-F238E27FC236}">
                <a16:creationId xmlns:a16="http://schemas.microsoft.com/office/drawing/2014/main" id="{E6A8CD61-C725-9CCE-CB74-225728F1E046}"/>
              </a:ext>
            </a:extLst>
          </p:cNvPr>
          <p:cNvSpPr txBox="1"/>
          <p:nvPr/>
        </p:nvSpPr>
        <p:spPr>
          <a:xfrm>
            <a:off x="4842511" y="2558533"/>
            <a:ext cx="2137410"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Preprocess data</a:t>
            </a:r>
          </a:p>
        </p:txBody>
      </p:sp>
      <p:sp>
        <p:nvSpPr>
          <p:cNvPr id="10" name="TextBox 9">
            <a:extLst>
              <a:ext uri="{FF2B5EF4-FFF2-40B4-BE49-F238E27FC236}">
                <a16:creationId xmlns:a16="http://schemas.microsoft.com/office/drawing/2014/main" id="{AB866619-A49C-F8C2-C5AE-B8911526F4F9}"/>
              </a:ext>
            </a:extLst>
          </p:cNvPr>
          <p:cNvSpPr txBox="1"/>
          <p:nvPr/>
        </p:nvSpPr>
        <p:spPr>
          <a:xfrm>
            <a:off x="8469164" y="2558531"/>
            <a:ext cx="2444578"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Extract features</a:t>
            </a:r>
          </a:p>
        </p:txBody>
      </p:sp>
      <p:sp>
        <p:nvSpPr>
          <p:cNvPr id="11" name="TextBox 10">
            <a:extLst>
              <a:ext uri="{FF2B5EF4-FFF2-40B4-BE49-F238E27FC236}">
                <a16:creationId xmlns:a16="http://schemas.microsoft.com/office/drawing/2014/main" id="{C440527E-91FE-0EFE-BDFC-7C6B787386E2}"/>
              </a:ext>
            </a:extLst>
          </p:cNvPr>
          <p:cNvSpPr txBox="1"/>
          <p:nvPr/>
        </p:nvSpPr>
        <p:spPr>
          <a:xfrm>
            <a:off x="8153400" y="4514533"/>
            <a:ext cx="3657600" cy="2308324"/>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Apply Machine Learning Model(if heart rate is normal-&gt; go to step 6</a:t>
            </a:r>
          </a:p>
          <a:p>
            <a:r>
              <a:rPr lang="en-IN" sz="2400" dirty="0">
                <a:latin typeface="Times New Roman" panose="02020603050405020304" pitchFamily="18" charset="0"/>
                <a:cs typeface="Times New Roman" panose="02020603050405020304" pitchFamily="18" charset="0"/>
              </a:rPr>
              <a:t>If abnormal/stress detected -&gt; Trigger </a:t>
            </a:r>
            <a:r>
              <a:rPr lang="en-IN" sz="2400" dirty="0" err="1">
                <a:latin typeface="Times New Roman" panose="02020603050405020304" pitchFamily="18" charset="0"/>
                <a:cs typeface="Times New Roman" panose="02020603050405020304" pitchFamily="18" charset="0"/>
              </a:rPr>
              <a:t>alert,live</a:t>
            </a:r>
            <a:r>
              <a:rPr lang="en-IN" sz="2400" dirty="0">
                <a:latin typeface="Times New Roman" panose="02020603050405020304" pitchFamily="18" charset="0"/>
                <a:cs typeface="Times New Roman" panose="02020603050405020304" pitchFamily="18" charset="0"/>
              </a:rPr>
              <a:t> location)</a:t>
            </a:r>
          </a:p>
          <a:p>
            <a:endParaRPr lang="en-IN" sz="24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7473FAD3-4CB5-18D3-3B6C-35505AF97988}"/>
              </a:ext>
            </a:extLst>
          </p:cNvPr>
          <p:cNvSpPr txBox="1"/>
          <p:nvPr/>
        </p:nvSpPr>
        <p:spPr>
          <a:xfrm>
            <a:off x="4892040" y="4785804"/>
            <a:ext cx="2209800" cy="1200329"/>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Display results (web/</a:t>
            </a:r>
            <a:r>
              <a:rPr lang="en-IN" sz="2400" dirty="0" err="1">
                <a:latin typeface="Times New Roman" panose="02020603050405020304" pitchFamily="18" charset="0"/>
                <a:cs typeface="Times New Roman" panose="02020603050405020304" pitchFamily="18" charset="0"/>
              </a:rPr>
              <a:t>mobileDashboard</a:t>
            </a:r>
            <a:r>
              <a:rPr lang="en-IN" sz="2400" dirty="0">
                <a:latin typeface="Times New Roman" panose="02020603050405020304" pitchFamily="18" charset="0"/>
                <a:cs typeface="Times New Roman" panose="02020603050405020304" pitchFamily="18" charset="0"/>
              </a:rPr>
              <a:t>) </a:t>
            </a:r>
          </a:p>
        </p:txBody>
      </p:sp>
      <p:sp>
        <p:nvSpPr>
          <p:cNvPr id="14" name="TextBox 13">
            <a:extLst>
              <a:ext uri="{FF2B5EF4-FFF2-40B4-BE49-F238E27FC236}">
                <a16:creationId xmlns:a16="http://schemas.microsoft.com/office/drawing/2014/main" id="{359FBEF0-B1C7-8BAB-B808-8B009B44DC54}"/>
              </a:ext>
            </a:extLst>
          </p:cNvPr>
          <p:cNvSpPr txBox="1"/>
          <p:nvPr/>
        </p:nvSpPr>
        <p:spPr>
          <a:xfrm>
            <a:off x="1798320" y="4607303"/>
            <a:ext cx="2499360" cy="1569660"/>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Store data for long-term Monitoring (cloud/local)</a:t>
            </a:r>
          </a:p>
        </p:txBody>
      </p:sp>
      <p:sp>
        <p:nvSpPr>
          <p:cNvPr id="27" name="TextBox 26">
            <a:extLst>
              <a:ext uri="{FF2B5EF4-FFF2-40B4-BE49-F238E27FC236}">
                <a16:creationId xmlns:a16="http://schemas.microsoft.com/office/drawing/2014/main" id="{AEE05A42-76D0-05F5-CF51-B80689E05915}"/>
              </a:ext>
            </a:extLst>
          </p:cNvPr>
          <p:cNvSpPr txBox="1"/>
          <p:nvPr/>
        </p:nvSpPr>
        <p:spPr>
          <a:xfrm>
            <a:off x="314631" y="4916129"/>
            <a:ext cx="707923"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End</a:t>
            </a:r>
            <a:r>
              <a:rPr lang="en-IN" dirty="0"/>
              <a:t> </a:t>
            </a:r>
          </a:p>
        </p:txBody>
      </p:sp>
      <p:sp>
        <p:nvSpPr>
          <p:cNvPr id="24" name="Flowchart: Process 23">
            <a:extLst>
              <a:ext uri="{FF2B5EF4-FFF2-40B4-BE49-F238E27FC236}">
                <a16:creationId xmlns:a16="http://schemas.microsoft.com/office/drawing/2014/main" id="{39C08C17-FE34-3B5F-E7E8-EA50755F6374}"/>
              </a:ext>
            </a:extLst>
          </p:cNvPr>
          <p:cNvSpPr/>
          <p:nvPr/>
        </p:nvSpPr>
        <p:spPr>
          <a:xfrm>
            <a:off x="2200275" y="2581684"/>
            <a:ext cx="1552573" cy="461664"/>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Flowchart: Process 25">
            <a:extLst>
              <a:ext uri="{FF2B5EF4-FFF2-40B4-BE49-F238E27FC236}">
                <a16:creationId xmlns:a16="http://schemas.microsoft.com/office/drawing/2014/main" id="{53A56893-1534-9F09-7D9F-AF401A70A65D}"/>
              </a:ext>
            </a:extLst>
          </p:cNvPr>
          <p:cNvSpPr/>
          <p:nvPr/>
        </p:nvSpPr>
        <p:spPr>
          <a:xfrm>
            <a:off x="4811874" y="2476500"/>
            <a:ext cx="2209800" cy="600281"/>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Flowchart: Process 28">
            <a:extLst>
              <a:ext uri="{FF2B5EF4-FFF2-40B4-BE49-F238E27FC236}">
                <a16:creationId xmlns:a16="http://schemas.microsoft.com/office/drawing/2014/main" id="{5EE9C215-DEDB-AE67-C62A-4326A1E479EE}"/>
              </a:ext>
            </a:extLst>
          </p:cNvPr>
          <p:cNvSpPr/>
          <p:nvPr/>
        </p:nvSpPr>
        <p:spPr>
          <a:xfrm>
            <a:off x="8316126" y="2476500"/>
            <a:ext cx="2444575" cy="708525"/>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Flowchart: Process 29">
            <a:extLst>
              <a:ext uri="{FF2B5EF4-FFF2-40B4-BE49-F238E27FC236}">
                <a16:creationId xmlns:a16="http://schemas.microsoft.com/office/drawing/2014/main" id="{7BD1AF03-E3F7-957F-D906-175C50D031C3}"/>
              </a:ext>
            </a:extLst>
          </p:cNvPr>
          <p:cNvSpPr/>
          <p:nvPr/>
        </p:nvSpPr>
        <p:spPr>
          <a:xfrm>
            <a:off x="8130229" y="4607303"/>
            <a:ext cx="3817931" cy="197447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Flowchart: Process 30">
            <a:extLst>
              <a:ext uri="{FF2B5EF4-FFF2-40B4-BE49-F238E27FC236}">
                <a16:creationId xmlns:a16="http://schemas.microsoft.com/office/drawing/2014/main" id="{B87572EA-46D6-0BCC-67CE-A29DA988491E}"/>
              </a:ext>
            </a:extLst>
          </p:cNvPr>
          <p:cNvSpPr/>
          <p:nvPr/>
        </p:nvSpPr>
        <p:spPr>
          <a:xfrm>
            <a:off x="4811874" y="4785804"/>
            <a:ext cx="2289966" cy="1200329"/>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Flowchart: Process 31">
            <a:extLst>
              <a:ext uri="{FF2B5EF4-FFF2-40B4-BE49-F238E27FC236}">
                <a16:creationId xmlns:a16="http://schemas.microsoft.com/office/drawing/2014/main" id="{E9AE8990-9238-25BA-3455-A30BDF8356F5}"/>
              </a:ext>
            </a:extLst>
          </p:cNvPr>
          <p:cNvSpPr/>
          <p:nvPr/>
        </p:nvSpPr>
        <p:spPr>
          <a:xfrm>
            <a:off x="1536363" y="4514533"/>
            <a:ext cx="2532717" cy="1797365"/>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32">
            <a:extLst>
              <a:ext uri="{FF2B5EF4-FFF2-40B4-BE49-F238E27FC236}">
                <a16:creationId xmlns:a16="http://schemas.microsoft.com/office/drawing/2014/main" id="{22C24573-FCBC-DBAF-A188-4BB9105C20D5}"/>
              </a:ext>
            </a:extLst>
          </p:cNvPr>
          <p:cNvSpPr/>
          <p:nvPr/>
        </p:nvSpPr>
        <p:spPr>
          <a:xfrm>
            <a:off x="228521" y="4924303"/>
            <a:ext cx="793648" cy="4616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Arrow: Right 33">
            <a:extLst>
              <a:ext uri="{FF2B5EF4-FFF2-40B4-BE49-F238E27FC236}">
                <a16:creationId xmlns:a16="http://schemas.microsoft.com/office/drawing/2014/main" id="{260E3E1C-989C-4223-8E78-97EBC19A8F46}"/>
              </a:ext>
            </a:extLst>
          </p:cNvPr>
          <p:cNvSpPr/>
          <p:nvPr/>
        </p:nvSpPr>
        <p:spPr>
          <a:xfrm>
            <a:off x="1499966" y="2753346"/>
            <a:ext cx="554336" cy="207680"/>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Arrow: Right 34">
            <a:extLst>
              <a:ext uri="{FF2B5EF4-FFF2-40B4-BE49-F238E27FC236}">
                <a16:creationId xmlns:a16="http://schemas.microsoft.com/office/drawing/2014/main" id="{F863FCF5-4289-F4A8-5C78-6C4E4504F3DB}"/>
              </a:ext>
            </a:extLst>
          </p:cNvPr>
          <p:cNvSpPr/>
          <p:nvPr/>
        </p:nvSpPr>
        <p:spPr>
          <a:xfrm>
            <a:off x="3875876" y="2682065"/>
            <a:ext cx="894245" cy="27094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Arrow: Right 35">
            <a:extLst>
              <a:ext uri="{FF2B5EF4-FFF2-40B4-BE49-F238E27FC236}">
                <a16:creationId xmlns:a16="http://schemas.microsoft.com/office/drawing/2014/main" id="{B98CBD24-2403-082B-2395-BEA6F2BB1353}"/>
              </a:ext>
            </a:extLst>
          </p:cNvPr>
          <p:cNvSpPr/>
          <p:nvPr/>
        </p:nvSpPr>
        <p:spPr>
          <a:xfrm>
            <a:off x="7131365" y="2677330"/>
            <a:ext cx="1091258" cy="266850"/>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Arrow: Down 36">
            <a:extLst>
              <a:ext uri="{FF2B5EF4-FFF2-40B4-BE49-F238E27FC236}">
                <a16:creationId xmlns:a16="http://schemas.microsoft.com/office/drawing/2014/main" id="{8E037F01-6C56-8AF5-47CF-73D1FE9C01EB}"/>
              </a:ext>
            </a:extLst>
          </p:cNvPr>
          <p:cNvSpPr/>
          <p:nvPr/>
        </p:nvSpPr>
        <p:spPr>
          <a:xfrm>
            <a:off x="9420225" y="3429000"/>
            <a:ext cx="895350" cy="998916"/>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Arrow: Right 37">
            <a:extLst>
              <a:ext uri="{FF2B5EF4-FFF2-40B4-BE49-F238E27FC236}">
                <a16:creationId xmlns:a16="http://schemas.microsoft.com/office/drawing/2014/main" id="{0618D57F-FAEC-39DB-6955-C4943F6F2571}"/>
              </a:ext>
            </a:extLst>
          </p:cNvPr>
          <p:cNvSpPr/>
          <p:nvPr/>
        </p:nvSpPr>
        <p:spPr>
          <a:xfrm flipH="1">
            <a:off x="7184796" y="5257936"/>
            <a:ext cx="861705" cy="488959"/>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Arrow: Right 38">
            <a:extLst>
              <a:ext uri="{FF2B5EF4-FFF2-40B4-BE49-F238E27FC236}">
                <a16:creationId xmlns:a16="http://schemas.microsoft.com/office/drawing/2014/main" id="{B4DEFB05-F00F-B6FC-B5F9-670A3EF612E6}"/>
              </a:ext>
            </a:extLst>
          </p:cNvPr>
          <p:cNvSpPr/>
          <p:nvPr/>
        </p:nvSpPr>
        <p:spPr>
          <a:xfrm flipH="1">
            <a:off x="4119066" y="5044295"/>
            <a:ext cx="648177" cy="702600"/>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Arrow: Right 39">
            <a:extLst>
              <a:ext uri="{FF2B5EF4-FFF2-40B4-BE49-F238E27FC236}">
                <a16:creationId xmlns:a16="http://schemas.microsoft.com/office/drawing/2014/main" id="{DE2099C8-5319-8FD1-E590-B5D6BCCF4719}"/>
              </a:ext>
            </a:extLst>
          </p:cNvPr>
          <p:cNvSpPr/>
          <p:nvPr/>
        </p:nvSpPr>
        <p:spPr>
          <a:xfrm flipH="1">
            <a:off x="1058520" y="4961212"/>
            <a:ext cx="397630" cy="46166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44057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1B1DC-C999-B206-12E0-4EBABBDB4700}"/>
              </a:ext>
            </a:extLst>
          </p:cNvPr>
          <p:cNvSpPr>
            <a:spLocks noGrp="1"/>
          </p:cNvSpPr>
          <p:nvPr>
            <p:ph type="title"/>
          </p:nvPr>
        </p:nvSpPr>
        <p:spPr/>
        <p:txBody>
          <a:bodyPr/>
          <a:lstStyle/>
          <a:p>
            <a:r>
              <a:rPr lang="en-US" dirty="0"/>
              <a:t>Dataset sample</a:t>
            </a:r>
          </a:p>
        </p:txBody>
      </p:sp>
      <p:sp>
        <p:nvSpPr>
          <p:cNvPr id="3" name="Text Placeholder 2">
            <a:extLst>
              <a:ext uri="{FF2B5EF4-FFF2-40B4-BE49-F238E27FC236}">
                <a16:creationId xmlns:a16="http://schemas.microsoft.com/office/drawing/2014/main" id="{0B23EDD6-BCCD-F009-D805-3655EC24B83F}"/>
              </a:ext>
            </a:extLst>
          </p:cNvPr>
          <p:cNvSpPr>
            <a:spLocks noGrp="1"/>
          </p:cNvSpPr>
          <p:nvPr>
            <p:ph type="body" idx="1"/>
          </p:nvPr>
        </p:nvSpPr>
        <p:spPr>
          <a:xfrm>
            <a:off x="871451" y="2016818"/>
            <a:ext cx="10482349" cy="4339532"/>
          </a:xfrm>
        </p:spPr>
        <p:txBody>
          <a:bodyPr>
            <a:normAutofit fontScale="92500" lnSpcReduction="10000"/>
          </a:bodyPr>
          <a:lstStyle/>
          <a:p>
            <a:pPr marL="114300" indent="0">
              <a:buNone/>
            </a:pPr>
            <a:r>
              <a:rPr lang="en-US" b="1" dirty="0">
                <a:latin typeface="Times New Roman" panose="02020603050405020304" pitchFamily="18" charset="0"/>
                <a:cs typeface="Times New Roman" panose="02020603050405020304" pitchFamily="18" charset="0"/>
              </a:rPr>
              <a:t>Datasets Available</a:t>
            </a:r>
          </a:p>
          <a:p>
            <a:pPr marL="114300" indent="0">
              <a:buNone/>
            </a:pPr>
            <a:endParaRPr lang="en-US" sz="200" b="1" dirty="0">
              <a:latin typeface="Times New Roman" panose="02020603050405020304" pitchFamily="18" charset="0"/>
              <a:cs typeface="Times New Roman" panose="02020603050405020304" pitchFamily="18" charset="0"/>
            </a:endParaRPr>
          </a:p>
          <a:p>
            <a:pPr marL="571500" indent="-457200">
              <a:buFont typeface="+mj-lt"/>
              <a:buAutoNum type="arabicPeriod"/>
            </a:pPr>
            <a:r>
              <a:rPr lang="en-US" sz="2400" dirty="0">
                <a:latin typeface="Times New Roman" panose="02020603050405020304" pitchFamily="18" charset="0"/>
                <a:cs typeface="Times New Roman" panose="02020603050405020304" pitchFamily="18" charset="0"/>
              </a:rPr>
              <a:t>Heart rate risk analysis Databases </a:t>
            </a:r>
          </a:p>
          <a:p>
            <a:pPr marL="571500" indent="-457200">
              <a:buFont typeface="+mj-lt"/>
              <a:buAutoNum type="arabicPeriod"/>
            </a:pPr>
            <a:r>
              <a:rPr lang="en-US" sz="2400" dirty="0">
                <a:latin typeface="Times New Roman" panose="02020603050405020304" pitchFamily="18" charset="0"/>
                <a:cs typeface="Times New Roman" panose="02020603050405020304" pitchFamily="18" charset="0"/>
              </a:rPr>
              <a:t>Time series dataset(ARIMA)</a:t>
            </a:r>
          </a:p>
          <a:p>
            <a:pPr marL="571500" indent="-457200">
              <a:buFont typeface="+mj-lt"/>
              <a:buAutoNum type="arabicPeriod"/>
            </a:pPr>
            <a:r>
              <a:rPr lang="en-US" sz="2400" dirty="0">
                <a:latin typeface="Times New Roman" panose="02020603050405020304" pitchFamily="18" charset="0"/>
                <a:cs typeface="Times New Roman" panose="02020603050405020304" pitchFamily="18" charset="0"/>
              </a:rPr>
              <a:t>Location Datasets</a:t>
            </a:r>
          </a:p>
          <a:p>
            <a:pPr marL="571500" indent="-457200">
              <a:buFont typeface="+mj-lt"/>
              <a:buAutoNum type="arabicPeriod"/>
            </a:pPr>
            <a:r>
              <a:rPr lang="en-US" sz="2400" dirty="0">
                <a:latin typeface="Times New Roman" panose="02020603050405020304" pitchFamily="18" charset="0"/>
                <a:cs typeface="Times New Roman" panose="02020603050405020304" pitchFamily="18" charset="0"/>
              </a:rPr>
              <a:t>Chatbot Interaction Datasets</a:t>
            </a:r>
          </a:p>
          <a:p>
            <a:pPr marL="571500" indent="-457200">
              <a:buFont typeface="+mj-lt"/>
              <a:buAutoNum type="arabicPeriod"/>
            </a:pPr>
            <a:r>
              <a:rPr lang="en-US" sz="2400" dirty="0">
                <a:latin typeface="Times New Roman" panose="02020603050405020304" pitchFamily="18" charset="0"/>
                <a:cs typeface="Times New Roman" panose="02020603050405020304" pitchFamily="18" charset="0"/>
              </a:rPr>
              <a:t>Combining Datasets</a:t>
            </a:r>
          </a:p>
          <a:p>
            <a:pPr marL="114300" indent="0">
              <a:buNone/>
            </a:pPr>
            <a:r>
              <a:rPr lang="en-US" sz="2400" b="1" dirty="0">
                <a:latin typeface="Times New Roman" panose="02020603050405020304" pitchFamily="18" charset="0"/>
                <a:cs typeface="Times New Roman" panose="02020603050405020304" pitchFamily="18" charset="0"/>
              </a:rPr>
              <a:t>Why </a:t>
            </a:r>
            <a:r>
              <a:rPr lang="en-US" sz="2400" b="1" dirty="0" err="1">
                <a:latin typeface="Times New Roman" panose="02020603050405020304" pitchFamily="18" charset="0"/>
                <a:cs typeface="Times New Roman" panose="02020603050405020304" pitchFamily="18" charset="0"/>
              </a:rPr>
              <a:t>arima</a:t>
            </a:r>
            <a:r>
              <a:rPr lang="en-US" sz="2400" b="1" dirty="0">
                <a:latin typeface="Times New Roman" panose="02020603050405020304" pitchFamily="18" charset="0"/>
                <a:cs typeface="Times New Roman" panose="02020603050405020304" pitchFamily="18" charset="0"/>
              </a:rPr>
              <a:t>?</a:t>
            </a:r>
          </a:p>
          <a:p>
            <a:pPr marL="114300" indent="0" algn="just">
              <a:buNone/>
            </a:pPr>
            <a:r>
              <a:rPr lang="en-US" sz="2000" dirty="0">
                <a:latin typeface="Times New Roman" panose="02020603050405020304" pitchFamily="18" charset="0"/>
                <a:cs typeface="Times New Roman" panose="02020603050405020304" pitchFamily="18" charset="0"/>
              </a:rPr>
              <a:t>In this system, ARIMA is used as a </a:t>
            </a:r>
            <a:r>
              <a:rPr lang="en-US" sz="2000" b="1" dirty="0">
                <a:latin typeface="Times New Roman" panose="02020603050405020304" pitchFamily="18" charset="0"/>
                <a:cs typeface="Times New Roman" panose="02020603050405020304" pitchFamily="18" charset="0"/>
              </a:rPr>
              <a:t>time series forecasting model</a:t>
            </a:r>
            <a:r>
              <a:rPr lang="en-US" sz="2000" dirty="0">
                <a:latin typeface="Times New Roman" panose="02020603050405020304" pitchFamily="18" charset="0"/>
                <a:cs typeface="Times New Roman" panose="02020603050405020304" pitchFamily="18" charset="0"/>
              </a:rPr>
              <a:t> to analyze </a:t>
            </a:r>
            <a:r>
              <a:rPr lang="en-US" sz="2000" b="1" dirty="0">
                <a:latin typeface="Times New Roman" panose="02020603050405020304" pitchFamily="18" charset="0"/>
                <a:cs typeface="Times New Roman" panose="02020603050405020304" pitchFamily="18" charset="0"/>
              </a:rPr>
              <a:t>heart rate data</a:t>
            </a:r>
            <a:r>
              <a:rPr lang="en-US" sz="2000" dirty="0">
                <a:latin typeface="Times New Roman" panose="02020603050405020304" pitchFamily="18" charset="0"/>
                <a:cs typeface="Times New Roman" panose="02020603050405020304" pitchFamily="18" charset="0"/>
              </a:rPr>
              <a:t> collected over time. Heart rate values naturally form a sequence where past readings influence future ones. ARIMA helps predict expected heart rate values and detect anomalies when real-time heart rates deviate sharply from predictions. </a:t>
            </a:r>
            <a:endParaRPr lang="en-US" sz="20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D6633E6-758B-0484-CF31-2CD045E0EA4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15</a:t>
            </a:fld>
            <a:endParaRPr lang="en-US"/>
          </a:p>
        </p:txBody>
      </p:sp>
    </p:spTree>
    <p:extLst>
      <p:ext uri="{BB962C8B-B14F-4D97-AF65-F5344CB8AC3E}">
        <p14:creationId xmlns:p14="http://schemas.microsoft.com/office/powerpoint/2010/main" val="3297789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Dataset sample and model graph</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16</a:t>
            </a:fld>
            <a:endParaRPr lang="en-US"/>
          </a:p>
        </p:txBody>
      </p:sp>
      <p:sp>
        <p:nvSpPr>
          <p:cNvPr id="45058" name="AutoShape 2" descr="blob:https://web.whatsapp.com/35f6c035-39f3-4383-9932-41ac04b1aa68"/>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5060" name="AutoShape 4" descr="blob:https://web.whatsapp.com/35f6c035-39f3-4383-9932-41ac04b1aa68"/>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5062" name="AutoShape 6" descr="blob:https://web.whatsapp.com/35f6c035-39f3-4383-9932-41ac04b1aa68"/>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5064" name="AutoShape 8" descr="blob:https://web.whatsapp.com/35f6c035-39f3-4383-9932-41ac04b1aa68"/>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5066" name="AutoShape 10" descr="blob:https://web.whatsapp.com/35f6c035-39f3-4383-9932-41ac04b1aa68"/>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5068" name="AutoShape 12" descr="blob:https://web.whatsapp.com/35f6c035-39f3-4383-9932-41ac04b1aa68"/>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5070" name="AutoShape 14" descr="blob:https://web.whatsapp.com/35f6c035-39f3-4383-9932-41ac04b1aa68"/>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5072" name="AutoShape 16" descr="blob:https://web.whatsapp.com/35f6c035-39f3-4383-9932-41ac04b1aa68"/>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FE70FB97-F404-45C7-945E-10B03DE44C30}"/>
              </a:ext>
            </a:extLst>
          </p:cNvPr>
          <p:cNvPicPr>
            <a:picLocks noChangeAspect="1"/>
          </p:cNvPicPr>
          <p:nvPr/>
        </p:nvPicPr>
        <p:blipFill>
          <a:blip r:embed="rId2"/>
          <a:stretch>
            <a:fillRect/>
          </a:stretch>
        </p:blipFill>
        <p:spPr>
          <a:xfrm>
            <a:off x="0" y="2004663"/>
            <a:ext cx="5974838" cy="3852740"/>
          </a:xfrm>
          <a:prstGeom prst="rect">
            <a:avLst/>
          </a:prstGeom>
        </p:spPr>
      </p:pic>
      <p:pic>
        <p:nvPicPr>
          <p:cNvPr id="10" name="Picture 9">
            <a:extLst>
              <a:ext uri="{FF2B5EF4-FFF2-40B4-BE49-F238E27FC236}">
                <a16:creationId xmlns:a16="http://schemas.microsoft.com/office/drawing/2014/main" id="{D01495E0-2852-268C-AFD3-5CACA99E589A}"/>
              </a:ext>
            </a:extLst>
          </p:cNvPr>
          <p:cNvPicPr>
            <a:picLocks noChangeAspect="1"/>
          </p:cNvPicPr>
          <p:nvPr/>
        </p:nvPicPr>
        <p:blipFill>
          <a:blip r:embed="rId3"/>
          <a:stretch>
            <a:fillRect/>
          </a:stretch>
        </p:blipFill>
        <p:spPr>
          <a:xfrm>
            <a:off x="5741635" y="1750050"/>
            <a:ext cx="6334371" cy="439010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AE01D-635C-E07E-1B4A-6604D3C9D13C}"/>
              </a:ext>
            </a:extLst>
          </p:cNvPr>
          <p:cNvSpPr>
            <a:spLocks noGrp="1"/>
          </p:cNvSpPr>
          <p:nvPr>
            <p:ph type="title"/>
          </p:nvPr>
        </p:nvSpPr>
        <p:spPr/>
        <p:txBody>
          <a:bodyPr/>
          <a:lstStyle/>
          <a:p>
            <a:r>
              <a:rPr lang="en-US"/>
              <a:t>Methodologies</a:t>
            </a:r>
            <a:endParaRPr lang="en-US" dirty="0"/>
          </a:p>
        </p:txBody>
      </p:sp>
      <p:sp>
        <p:nvSpPr>
          <p:cNvPr id="3" name="Text Placeholder 2">
            <a:extLst>
              <a:ext uri="{FF2B5EF4-FFF2-40B4-BE49-F238E27FC236}">
                <a16:creationId xmlns:a16="http://schemas.microsoft.com/office/drawing/2014/main" id="{E6A64D91-785E-694C-FF61-1B258810A1C0}"/>
              </a:ext>
            </a:extLst>
          </p:cNvPr>
          <p:cNvSpPr>
            <a:spLocks noGrp="1"/>
          </p:cNvSpPr>
          <p:nvPr>
            <p:ph type="body" idx="1"/>
          </p:nvPr>
        </p:nvSpPr>
        <p:spPr>
          <a:xfrm>
            <a:off x="588817" y="1567931"/>
            <a:ext cx="11107189" cy="4334105"/>
          </a:xfrm>
        </p:spPr>
        <p:txBody>
          <a:bodyPr>
            <a:noAutofit/>
          </a:bodyPr>
          <a:lstStyle/>
          <a:p>
            <a:pPr>
              <a:buNone/>
            </a:pPr>
            <a:r>
              <a:rPr lang="en-US" sz="2000" b="1" dirty="0"/>
              <a:t>1. Heart Rate Data Collection</a:t>
            </a:r>
          </a:p>
          <a:p>
            <a:pPr>
              <a:buFont typeface="Arial" panose="020B0604020202020204" pitchFamily="34" charset="0"/>
              <a:buChar char="•"/>
            </a:pPr>
            <a:r>
              <a:rPr lang="en-US" sz="2000" dirty="0"/>
              <a:t>Use a </a:t>
            </a:r>
            <a:r>
              <a:rPr lang="en-US" sz="2000" b="1" dirty="0"/>
              <a:t>mobile app</a:t>
            </a:r>
            <a:r>
              <a:rPr lang="en-US" sz="2000" dirty="0"/>
              <a:t> or </a:t>
            </a:r>
            <a:r>
              <a:rPr lang="en-US" sz="2000" b="1" dirty="0"/>
              <a:t>IoT device</a:t>
            </a:r>
            <a:r>
              <a:rPr lang="en-US" sz="2000" dirty="0"/>
              <a:t> that continuously collects heart rate data from the user.</a:t>
            </a:r>
          </a:p>
          <a:p>
            <a:pPr>
              <a:buFont typeface="Arial" panose="020B0604020202020204" pitchFamily="34" charset="0"/>
              <a:buChar char="•"/>
            </a:pPr>
            <a:endParaRPr lang="en-US" sz="2000" dirty="0"/>
          </a:p>
          <a:p>
            <a:pPr marL="114300" indent="0">
              <a:buNone/>
            </a:pP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C1DD4F4-1F95-301D-BBD9-7E374DF935F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17</a:t>
            </a:fld>
            <a:endParaRPr lang="en-US"/>
          </a:p>
        </p:txBody>
      </p:sp>
      <p:pic>
        <p:nvPicPr>
          <p:cNvPr id="6" name="Picture 5">
            <a:extLst>
              <a:ext uri="{FF2B5EF4-FFF2-40B4-BE49-F238E27FC236}">
                <a16:creationId xmlns:a16="http://schemas.microsoft.com/office/drawing/2014/main" id="{33E8569E-5A24-E6E3-2CE2-3AB92F5A26CF}"/>
              </a:ext>
            </a:extLst>
          </p:cNvPr>
          <p:cNvPicPr>
            <a:picLocks noChangeAspect="1"/>
          </p:cNvPicPr>
          <p:nvPr/>
        </p:nvPicPr>
        <p:blipFill>
          <a:blip r:embed="rId2"/>
          <a:stretch>
            <a:fillRect/>
          </a:stretch>
        </p:blipFill>
        <p:spPr>
          <a:xfrm>
            <a:off x="3193366" y="2763917"/>
            <a:ext cx="4841117" cy="2890638"/>
          </a:xfrm>
          <a:prstGeom prst="rect">
            <a:avLst/>
          </a:prstGeom>
        </p:spPr>
      </p:pic>
    </p:spTree>
    <p:extLst>
      <p:ext uri="{BB962C8B-B14F-4D97-AF65-F5344CB8AC3E}">
        <p14:creationId xmlns:p14="http://schemas.microsoft.com/office/powerpoint/2010/main" val="1323896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7D6EC-5836-77DE-4F8D-4A42549F6D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23F8D3-619E-4FCF-8CF1-90479857F994}"/>
              </a:ext>
            </a:extLst>
          </p:cNvPr>
          <p:cNvSpPr>
            <a:spLocks noGrp="1"/>
          </p:cNvSpPr>
          <p:nvPr>
            <p:ph type="title"/>
          </p:nvPr>
        </p:nvSpPr>
        <p:spPr/>
        <p:txBody>
          <a:bodyPr/>
          <a:lstStyle/>
          <a:p>
            <a:r>
              <a:rPr lang="en-US"/>
              <a:t>Methodologies</a:t>
            </a:r>
            <a:endParaRPr lang="en-US" dirty="0"/>
          </a:p>
        </p:txBody>
      </p:sp>
      <p:sp>
        <p:nvSpPr>
          <p:cNvPr id="3" name="Text Placeholder 2">
            <a:extLst>
              <a:ext uri="{FF2B5EF4-FFF2-40B4-BE49-F238E27FC236}">
                <a16:creationId xmlns:a16="http://schemas.microsoft.com/office/drawing/2014/main" id="{D53108B0-2027-CE7E-46C5-C91B8F519723}"/>
              </a:ext>
            </a:extLst>
          </p:cNvPr>
          <p:cNvSpPr>
            <a:spLocks noGrp="1"/>
          </p:cNvSpPr>
          <p:nvPr>
            <p:ph type="body" idx="1"/>
          </p:nvPr>
        </p:nvSpPr>
        <p:spPr>
          <a:xfrm>
            <a:off x="588817" y="1567931"/>
            <a:ext cx="11107189" cy="4334105"/>
          </a:xfrm>
        </p:spPr>
        <p:txBody>
          <a:bodyPr>
            <a:noAutofit/>
          </a:bodyPr>
          <a:lstStyle/>
          <a:p>
            <a:pPr>
              <a:buNone/>
            </a:pPr>
            <a:r>
              <a:rPr lang="en-US" sz="2000" b="1" dirty="0"/>
              <a:t>3. Live Location Tracking</a:t>
            </a:r>
          </a:p>
          <a:p>
            <a:pPr>
              <a:buFont typeface="Arial" panose="020B0604020202020204" pitchFamily="34" charset="0"/>
              <a:buChar char="•"/>
            </a:pPr>
            <a:r>
              <a:rPr lang="en-US" sz="2000" dirty="0"/>
              <a:t>Integrate </a:t>
            </a:r>
            <a:r>
              <a:rPr lang="en-US" sz="2000" b="1" dirty="0"/>
              <a:t>GPS tracking</a:t>
            </a:r>
            <a:r>
              <a:rPr lang="en-US" sz="2000" dirty="0"/>
              <a:t> in the mobile app.</a:t>
            </a:r>
          </a:p>
          <a:p>
            <a:pPr marL="114300" indent="0">
              <a:buNone/>
            </a:pPr>
            <a:r>
              <a:rPr lang="en-US" sz="2000" b="1" dirty="0"/>
              <a:t>4. Security and Compliance:</a:t>
            </a:r>
          </a:p>
          <a:p>
            <a:r>
              <a:rPr lang="en-US" sz="2000" dirty="0"/>
              <a:t>Encrypt all health and location data (use HTTPS, database encryption).</a:t>
            </a:r>
          </a:p>
          <a:p>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AB6F7B5-4448-50DD-BD61-A1E6F49B3D9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18</a:t>
            </a:fld>
            <a:endParaRPr lang="en-US"/>
          </a:p>
        </p:txBody>
      </p:sp>
      <p:pic>
        <p:nvPicPr>
          <p:cNvPr id="6" name="Picture 5">
            <a:extLst>
              <a:ext uri="{FF2B5EF4-FFF2-40B4-BE49-F238E27FC236}">
                <a16:creationId xmlns:a16="http://schemas.microsoft.com/office/drawing/2014/main" id="{216F98A2-341A-542E-3EDA-57B96B994B68}"/>
              </a:ext>
            </a:extLst>
          </p:cNvPr>
          <p:cNvPicPr>
            <a:picLocks noChangeAspect="1"/>
          </p:cNvPicPr>
          <p:nvPr/>
        </p:nvPicPr>
        <p:blipFill>
          <a:blip r:embed="rId2"/>
          <a:stretch>
            <a:fillRect/>
          </a:stretch>
        </p:blipFill>
        <p:spPr>
          <a:xfrm>
            <a:off x="2264898" y="3278634"/>
            <a:ext cx="7199874" cy="3579366"/>
          </a:xfrm>
          <a:prstGeom prst="rect">
            <a:avLst/>
          </a:prstGeom>
        </p:spPr>
      </p:pic>
    </p:spTree>
    <p:extLst>
      <p:ext uri="{BB962C8B-B14F-4D97-AF65-F5344CB8AC3E}">
        <p14:creationId xmlns:p14="http://schemas.microsoft.com/office/powerpoint/2010/main" val="995853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C0A5C-2100-FF76-718C-F56F4BBE99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567D2-2235-6305-7D6E-E5A1E283EAE8}"/>
              </a:ext>
            </a:extLst>
          </p:cNvPr>
          <p:cNvSpPr>
            <a:spLocks noGrp="1"/>
          </p:cNvSpPr>
          <p:nvPr>
            <p:ph type="title"/>
          </p:nvPr>
        </p:nvSpPr>
        <p:spPr/>
        <p:txBody>
          <a:bodyPr/>
          <a:lstStyle/>
          <a:p>
            <a:r>
              <a:rPr lang="en-US"/>
              <a:t>Methodologies</a:t>
            </a:r>
            <a:endParaRPr lang="en-US" dirty="0"/>
          </a:p>
        </p:txBody>
      </p:sp>
      <p:sp>
        <p:nvSpPr>
          <p:cNvPr id="3" name="Text Placeholder 2">
            <a:extLst>
              <a:ext uri="{FF2B5EF4-FFF2-40B4-BE49-F238E27FC236}">
                <a16:creationId xmlns:a16="http://schemas.microsoft.com/office/drawing/2014/main" id="{7B41B784-024B-F101-B614-2A3883A317B2}"/>
              </a:ext>
            </a:extLst>
          </p:cNvPr>
          <p:cNvSpPr>
            <a:spLocks noGrp="1"/>
          </p:cNvSpPr>
          <p:nvPr>
            <p:ph type="body" idx="1"/>
          </p:nvPr>
        </p:nvSpPr>
        <p:spPr>
          <a:xfrm>
            <a:off x="588817" y="1567931"/>
            <a:ext cx="11107189" cy="4334105"/>
          </a:xfrm>
        </p:spPr>
        <p:txBody>
          <a:bodyPr>
            <a:noAutofit/>
          </a:bodyPr>
          <a:lstStyle/>
          <a:p>
            <a:pPr>
              <a:buNone/>
            </a:pPr>
            <a:r>
              <a:rPr lang="en-US" sz="2000" b="1" dirty="0"/>
              <a:t>2. ARIMA Model for Heart Rate Analysis</a:t>
            </a:r>
          </a:p>
          <a:p>
            <a:pPr>
              <a:buFont typeface="Arial" panose="020B0604020202020204" pitchFamily="34" charset="0"/>
              <a:buChar char="•"/>
            </a:pPr>
            <a:r>
              <a:rPr lang="en-US" sz="2000" dirty="0"/>
              <a:t>Build and train an </a:t>
            </a:r>
            <a:r>
              <a:rPr lang="en-US" sz="2000" b="1" dirty="0"/>
              <a:t>ARIMA model</a:t>
            </a:r>
            <a:r>
              <a:rPr lang="en-US" sz="2000" dirty="0"/>
              <a:t> on time-series heart rate data.</a:t>
            </a:r>
          </a:p>
          <a:p>
            <a:pPr>
              <a:buFont typeface="Arial" panose="020B0604020202020204" pitchFamily="34" charset="0"/>
              <a:buChar char="•"/>
            </a:pPr>
            <a:r>
              <a:rPr lang="en-US" sz="2000" dirty="0"/>
              <a:t>Use the model to </a:t>
            </a:r>
            <a:r>
              <a:rPr lang="en-US" sz="2000" b="1" dirty="0"/>
              <a:t>predict normal patterns</a:t>
            </a:r>
            <a:r>
              <a:rPr lang="en-US" sz="2000" dirty="0"/>
              <a:t> and </a:t>
            </a:r>
            <a:r>
              <a:rPr lang="en-US" sz="2000" b="1" dirty="0"/>
              <a:t>detect anomalies</a:t>
            </a:r>
            <a:r>
              <a:rPr lang="en-US" sz="2000" dirty="0"/>
              <a:t> (like sudden spikes, drops, irregular rhythms).</a:t>
            </a:r>
          </a:p>
          <a:p>
            <a:pPr marL="114300" indent="0">
              <a:buNone/>
            </a:pP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260BC4F-19FF-9E20-58C5-F3CDCB03980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19</a:t>
            </a:fld>
            <a:endParaRPr lang="en-US"/>
          </a:p>
        </p:txBody>
      </p:sp>
      <p:pic>
        <p:nvPicPr>
          <p:cNvPr id="5" name="Picture 4">
            <a:extLst>
              <a:ext uri="{FF2B5EF4-FFF2-40B4-BE49-F238E27FC236}">
                <a16:creationId xmlns:a16="http://schemas.microsoft.com/office/drawing/2014/main" id="{5E2B5F4D-0247-C0EF-918E-CBB82B29635E}"/>
              </a:ext>
            </a:extLst>
          </p:cNvPr>
          <p:cNvPicPr>
            <a:picLocks noChangeAspect="1"/>
          </p:cNvPicPr>
          <p:nvPr/>
        </p:nvPicPr>
        <p:blipFill>
          <a:blip r:embed="rId2"/>
          <a:stretch>
            <a:fillRect/>
          </a:stretch>
        </p:blipFill>
        <p:spPr>
          <a:xfrm>
            <a:off x="5753686" y="2988603"/>
            <a:ext cx="5056228" cy="3504272"/>
          </a:xfrm>
          <a:prstGeom prst="rect">
            <a:avLst/>
          </a:prstGeom>
        </p:spPr>
      </p:pic>
    </p:spTree>
    <p:extLst>
      <p:ext uri="{BB962C8B-B14F-4D97-AF65-F5344CB8AC3E}">
        <p14:creationId xmlns:p14="http://schemas.microsoft.com/office/powerpoint/2010/main" val="21772872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6E9DE-A083-8F82-4ED1-E581F46A9526}"/>
              </a:ext>
            </a:extLst>
          </p:cNvPr>
          <p:cNvSpPr>
            <a:spLocks noGrp="1"/>
          </p:cNvSpPr>
          <p:nvPr>
            <p:ph type="title"/>
          </p:nvPr>
        </p:nvSpPr>
        <p:spPr/>
        <p:txBody>
          <a:bodyPr/>
          <a:lstStyle/>
          <a:p>
            <a:r>
              <a:rPr lang="en-US" dirty="0"/>
              <a:t>Methodologies</a:t>
            </a:r>
          </a:p>
        </p:txBody>
      </p:sp>
      <p:sp>
        <p:nvSpPr>
          <p:cNvPr id="3" name="Text Placeholder 2">
            <a:extLst>
              <a:ext uri="{FF2B5EF4-FFF2-40B4-BE49-F238E27FC236}">
                <a16:creationId xmlns:a16="http://schemas.microsoft.com/office/drawing/2014/main" id="{4AF223BA-90AC-29D8-4849-9836B0AD6730}"/>
              </a:ext>
            </a:extLst>
          </p:cNvPr>
          <p:cNvSpPr>
            <a:spLocks noGrp="1"/>
          </p:cNvSpPr>
          <p:nvPr>
            <p:ph type="body" idx="1"/>
          </p:nvPr>
        </p:nvSpPr>
        <p:spPr>
          <a:xfrm>
            <a:off x="642450" y="1690688"/>
            <a:ext cx="10515600" cy="4351338"/>
          </a:xfrm>
        </p:spPr>
        <p:txBody>
          <a:bodyPr>
            <a:noAutofit/>
          </a:bodyPr>
          <a:lstStyle/>
          <a:p>
            <a:pPr>
              <a:buNone/>
            </a:pPr>
            <a:r>
              <a:rPr lang="en-US" sz="2000" b="1" dirty="0"/>
              <a:t>5. AI Chatbot for Medical Advice</a:t>
            </a:r>
          </a:p>
          <a:p>
            <a:pPr>
              <a:buFont typeface="Arial" panose="020B0604020202020204" pitchFamily="34" charset="0"/>
              <a:buChar char="•"/>
            </a:pPr>
            <a:r>
              <a:rPr lang="en-US" sz="2000" dirty="0"/>
              <a:t>Build or integrate an </a:t>
            </a:r>
            <a:r>
              <a:rPr lang="en-US" sz="2000" b="1" dirty="0"/>
              <a:t>AI chatbot</a:t>
            </a:r>
            <a:r>
              <a:rPr lang="en-US" sz="2000" dirty="0"/>
              <a:t> (using something like </a:t>
            </a:r>
            <a:r>
              <a:rPr lang="en-US" sz="2000" dirty="0" err="1"/>
              <a:t>Dialogflow</a:t>
            </a:r>
            <a:r>
              <a:rPr lang="en-US" sz="2000" dirty="0"/>
              <a:t>, Rasa, or a custom GPT-based model).</a:t>
            </a:r>
          </a:p>
          <a:p>
            <a:pPr marL="114300" indent="0">
              <a:buNone/>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C4FFB0C-E490-776B-8C5D-975FA52735D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20</a:t>
            </a:fld>
            <a:endParaRPr lang="en-US"/>
          </a:p>
        </p:txBody>
      </p:sp>
      <p:pic>
        <p:nvPicPr>
          <p:cNvPr id="6" name="Picture 5">
            <a:extLst>
              <a:ext uri="{FF2B5EF4-FFF2-40B4-BE49-F238E27FC236}">
                <a16:creationId xmlns:a16="http://schemas.microsoft.com/office/drawing/2014/main" id="{75F72EAB-E8FA-04F0-F355-16E6A7E80764}"/>
              </a:ext>
            </a:extLst>
          </p:cNvPr>
          <p:cNvPicPr>
            <a:picLocks noChangeAspect="1"/>
          </p:cNvPicPr>
          <p:nvPr/>
        </p:nvPicPr>
        <p:blipFill>
          <a:blip r:embed="rId2"/>
          <a:stretch>
            <a:fillRect/>
          </a:stretch>
        </p:blipFill>
        <p:spPr>
          <a:xfrm>
            <a:off x="3581401" y="2661699"/>
            <a:ext cx="6742014" cy="3831176"/>
          </a:xfrm>
          <a:prstGeom prst="rect">
            <a:avLst/>
          </a:prstGeom>
        </p:spPr>
      </p:pic>
    </p:spTree>
    <p:extLst>
      <p:ext uri="{BB962C8B-B14F-4D97-AF65-F5344CB8AC3E}">
        <p14:creationId xmlns:p14="http://schemas.microsoft.com/office/powerpoint/2010/main" val="4050637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ABB70-1F0F-E577-1437-322C942AE1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123D26-F7C0-C15B-9840-9CEF33D73E8A}"/>
              </a:ext>
            </a:extLst>
          </p:cNvPr>
          <p:cNvSpPr>
            <a:spLocks noGrp="1"/>
          </p:cNvSpPr>
          <p:nvPr>
            <p:ph type="title"/>
          </p:nvPr>
        </p:nvSpPr>
        <p:spPr/>
        <p:txBody>
          <a:bodyPr/>
          <a:lstStyle/>
          <a:p>
            <a:r>
              <a:rPr lang="en-US" dirty="0"/>
              <a:t>Methodologies</a:t>
            </a:r>
          </a:p>
        </p:txBody>
      </p:sp>
      <p:sp>
        <p:nvSpPr>
          <p:cNvPr id="3" name="Text Placeholder 2">
            <a:extLst>
              <a:ext uri="{FF2B5EF4-FFF2-40B4-BE49-F238E27FC236}">
                <a16:creationId xmlns:a16="http://schemas.microsoft.com/office/drawing/2014/main" id="{36A4E273-2437-2B9F-85A9-ABDC7221C9EC}"/>
              </a:ext>
            </a:extLst>
          </p:cNvPr>
          <p:cNvSpPr>
            <a:spLocks noGrp="1"/>
          </p:cNvSpPr>
          <p:nvPr>
            <p:ph type="body" idx="1"/>
          </p:nvPr>
        </p:nvSpPr>
        <p:spPr>
          <a:xfrm>
            <a:off x="642450" y="1690688"/>
            <a:ext cx="10515600" cy="4351338"/>
          </a:xfrm>
        </p:spPr>
        <p:txBody>
          <a:bodyPr>
            <a:noAutofit/>
          </a:bodyPr>
          <a:lstStyle/>
          <a:p>
            <a:pPr>
              <a:buNone/>
            </a:pPr>
            <a:r>
              <a:rPr lang="en-US" sz="2000" b="1" dirty="0"/>
              <a:t>6. Cloud Storage and Backend Server</a:t>
            </a:r>
          </a:p>
          <a:p>
            <a:pPr>
              <a:buFont typeface="Arial" panose="020B0604020202020204" pitchFamily="34" charset="0"/>
              <a:buChar char="•"/>
            </a:pPr>
            <a:r>
              <a:rPr lang="en-US" sz="2000" dirty="0"/>
              <a:t>Set up a </a:t>
            </a:r>
            <a:r>
              <a:rPr lang="en-US" sz="2000" b="1" dirty="0"/>
              <a:t>backend server</a:t>
            </a:r>
            <a:r>
              <a:rPr lang="en-US" sz="2000" dirty="0"/>
              <a:t> (AWS, Azure, Firebase, etc.) to:</a:t>
            </a:r>
          </a:p>
          <a:p>
            <a:pPr marL="742950" lvl="1" indent="-285750">
              <a:buFont typeface="Arial" panose="020B0604020202020204" pitchFamily="34" charset="0"/>
              <a:buChar char="•"/>
            </a:pPr>
            <a:r>
              <a:rPr lang="en-US" sz="2000" dirty="0"/>
              <a:t>Store heart rate data securely.</a:t>
            </a:r>
          </a:p>
          <a:p>
            <a:pPr marL="742950" lvl="1" indent="-285750">
              <a:buFont typeface="Arial" panose="020B0604020202020204" pitchFamily="34" charset="0"/>
              <a:buChar char="•"/>
            </a:pPr>
            <a:r>
              <a:rPr lang="en-US" sz="2000" dirty="0"/>
              <a:t>Store GPS location logs.</a:t>
            </a:r>
          </a:p>
          <a:p>
            <a:pPr>
              <a:buFont typeface="Arial" panose="020B0604020202020204" pitchFamily="34" charset="0"/>
              <a:buChar char="•"/>
            </a:pPr>
            <a:r>
              <a:rPr lang="en-US" sz="2000" dirty="0"/>
              <a:t>Backend also retrains or fine-tunes the ARIMA model based on new data over time.</a:t>
            </a:r>
          </a:p>
          <a:p>
            <a:pPr marL="114300" indent="0">
              <a:buNone/>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907DBDE-6F4E-F07B-7484-59419E30DBF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21</a:t>
            </a:fld>
            <a:endParaRPr lang="en-US"/>
          </a:p>
        </p:txBody>
      </p:sp>
      <p:pic>
        <p:nvPicPr>
          <p:cNvPr id="6" name="Picture 5">
            <a:extLst>
              <a:ext uri="{FF2B5EF4-FFF2-40B4-BE49-F238E27FC236}">
                <a16:creationId xmlns:a16="http://schemas.microsoft.com/office/drawing/2014/main" id="{D6884D2C-E836-A90C-2AAF-82FD29053F2E}"/>
              </a:ext>
            </a:extLst>
          </p:cNvPr>
          <p:cNvPicPr>
            <a:picLocks noChangeAspect="1"/>
          </p:cNvPicPr>
          <p:nvPr/>
        </p:nvPicPr>
        <p:blipFill>
          <a:blip r:embed="rId2"/>
          <a:stretch>
            <a:fillRect/>
          </a:stretch>
        </p:blipFill>
        <p:spPr>
          <a:xfrm>
            <a:off x="3957330" y="3699803"/>
            <a:ext cx="7396470" cy="3158197"/>
          </a:xfrm>
          <a:prstGeom prst="rect">
            <a:avLst/>
          </a:prstGeom>
        </p:spPr>
      </p:pic>
    </p:spTree>
    <p:extLst>
      <p:ext uri="{BB962C8B-B14F-4D97-AF65-F5344CB8AC3E}">
        <p14:creationId xmlns:p14="http://schemas.microsoft.com/office/powerpoint/2010/main" val="701066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08152-CAE9-4404-F015-A2A83BC659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13A69A-0DF5-8055-AABF-6D5C39563972}"/>
              </a:ext>
            </a:extLst>
          </p:cNvPr>
          <p:cNvSpPr>
            <a:spLocks noGrp="1"/>
          </p:cNvSpPr>
          <p:nvPr>
            <p:ph type="title"/>
          </p:nvPr>
        </p:nvSpPr>
        <p:spPr/>
        <p:txBody>
          <a:bodyPr/>
          <a:lstStyle/>
          <a:p>
            <a:r>
              <a:rPr lang="en-US" dirty="0"/>
              <a:t>Methodologies</a:t>
            </a:r>
          </a:p>
        </p:txBody>
      </p:sp>
      <p:sp>
        <p:nvSpPr>
          <p:cNvPr id="3" name="Text Placeholder 2">
            <a:extLst>
              <a:ext uri="{FF2B5EF4-FFF2-40B4-BE49-F238E27FC236}">
                <a16:creationId xmlns:a16="http://schemas.microsoft.com/office/drawing/2014/main" id="{BEE4B1CA-AD99-DC14-58D8-EE187CA34353}"/>
              </a:ext>
            </a:extLst>
          </p:cNvPr>
          <p:cNvSpPr>
            <a:spLocks noGrp="1"/>
          </p:cNvSpPr>
          <p:nvPr>
            <p:ph type="body" idx="1"/>
          </p:nvPr>
        </p:nvSpPr>
        <p:spPr>
          <a:xfrm>
            <a:off x="642450" y="1690688"/>
            <a:ext cx="10515600" cy="4351338"/>
          </a:xfrm>
        </p:spPr>
        <p:txBody>
          <a:bodyPr>
            <a:noAutofit/>
          </a:bodyPr>
          <a:lstStyle/>
          <a:p>
            <a:pPr>
              <a:buNone/>
            </a:pPr>
            <a:r>
              <a:rPr lang="en-US" sz="2000" b="1" dirty="0"/>
              <a:t>7. Mobile App / Web Dashboard</a:t>
            </a:r>
          </a:p>
          <a:p>
            <a:pPr>
              <a:buFont typeface="Arial" panose="020B0604020202020204" pitchFamily="34" charset="0"/>
              <a:buChar char="•"/>
            </a:pPr>
            <a:r>
              <a:rPr lang="en-US" sz="2000" dirty="0"/>
              <a:t>Build a </a:t>
            </a:r>
            <a:r>
              <a:rPr lang="en-US" sz="2000" b="1" dirty="0"/>
              <a:t>user-friendly mobile app</a:t>
            </a:r>
            <a:r>
              <a:rPr lang="en-US" sz="2000" dirty="0"/>
              <a:t> (Flutter, React Native) or web dashboard (React, Vue) that shows:</a:t>
            </a:r>
          </a:p>
          <a:p>
            <a:pPr marL="742950" lvl="1" indent="-285750">
              <a:buFont typeface="Arial" panose="020B0604020202020204" pitchFamily="34" charset="0"/>
              <a:buChar char="•"/>
            </a:pPr>
            <a:r>
              <a:rPr lang="en-US" sz="2000" dirty="0"/>
              <a:t>Real-time heart rate graphs.</a:t>
            </a:r>
          </a:p>
          <a:p>
            <a:pPr marL="742950" lvl="1" indent="-285750">
              <a:buFont typeface="Arial" panose="020B0604020202020204" pitchFamily="34" charset="0"/>
              <a:buChar char="•"/>
            </a:pPr>
            <a:r>
              <a:rPr lang="en-US" sz="2000" dirty="0"/>
              <a:t>Location on a map.</a:t>
            </a:r>
          </a:p>
          <a:p>
            <a:pPr marL="742950" lvl="1" indent="-285750">
              <a:buFont typeface="Arial" panose="020B0604020202020204" pitchFamily="34" charset="0"/>
              <a:buChar char="•"/>
            </a:pPr>
            <a:r>
              <a:rPr lang="en-US" sz="2000" dirty="0"/>
              <a:t>Chatbot access.</a:t>
            </a:r>
          </a:p>
          <a:p>
            <a:pPr marL="114300" indent="0">
              <a:buNone/>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A5B2B4F-7145-5633-5A4C-298DF060587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22</a:t>
            </a:fld>
            <a:endParaRPr lang="en-US"/>
          </a:p>
        </p:txBody>
      </p:sp>
      <p:pic>
        <p:nvPicPr>
          <p:cNvPr id="6" name="Picture 5">
            <a:extLst>
              <a:ext uri="{FF2B5EF4-FFF2-40B4-BE49-F238E27FC236}">
                <a16:creationId xmlns:a16="http://schemas.microsoft.com/office/drawing/2014/main" id="{BBB13B8F-5761-CEB8-0356-8F1DA7B75503}"/>
              </a:ext>
            </a:extLst>
          </p:cNvPr>
          <p:cNvPicPr>
            <a:picLocks noChangeAspect="1"/>
          </p:cNvPicPr>
          <p:nvPr/>
        </p:nvPicPr>
        <p:blipFill>
          <a:blip r:embed="rId2"/>
          <a:stretch>
            <a:fillRect/>
          </a:stretch>
        </p:blipFill>
        <p:spPr>
          <a:xfrm>
            <a:off x="4225459" y="3263705"/>
            <a:ext cx="7657491" cy="3457770"/>
          </a:xfrm>
          <a:prstGeom prst="rect">
            <a:avLst/>
          </a:prstGeom>
        </p:spPr>
      </p:pic>
    </p:spTree>
    <p:extLst>
      <p:ext uri="{BB962C8B-B14F-4D97-AF65-F5344CB8AC3E}">
        <p14:creationId xmlns:p14="http://schemas.microsoft.com/office/powerpoint/2010/main" val="33714159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9227E-20ED-7217-4504-8B5386AE6C2D}"/>
              </a:ext>
            </a:extLst>
          </p:cNvPr>
          <p:cNvSpPr>
            <a:spLocks noGrp="1"/>
          </p:cNvSpPr>
          <p:nvPr>
            <p:ph type="title"/>
          </p:nvPr>
        </p:nvSpPr>
        <p:spPr/>
        <p:txBody>
          <a:bodyPr/>
          <a:lstStyle/>
          <a:p>
            <a:r>
              <a:rPr lang="en-US" dirty="0"/>
              <a:t>Implementation</a:t>
            </a:r>
          </a:p>
        </p:txBody>
      </p:sp>
      <p:sp>
        <p:nvSpPr>
          <p:cNvPr id="3" name="Text Placeholder 2">
            <a:extLst>
              <a:ext uri="{FF2B5EF4-FFF2-40B4-BE49-F238E27FC236}">
                <a16:creationId xmlns:a16="http://schemas.microsoft.com/office/drawing/2014/main" id="{55681BA4-3F54-581A-9845-028CCCEA2271}"/>
              </a:ext>
            </a:extLst>
          </p:cNvPr>
          <p:cNvSpPr>
            <a:spLocks noGrp="1"/>
          </p:cNvSpPr>
          <p:nvPr>
            <p:ph type="body" idx="1"/>
          </p:nvPr>
        </p:nvSpPr>
        <p:spPr/>
        <p:txBody>
          <a:bodyPr>
            <a:noAutofit/>
          </a:bodyPr>
          <a:lstStyle/>
          <a:p>
            <a:pPr marL="114300" indent="0">
              <a:buNone/>
            </a:pPr>
            <a:r>
              <a:rPr lang="en-US" sz="2400" b="1" dirty="0">
                <a:latin typeface="Times New Roman" panose="02020603050405020304" pitchFamily="18" charset="0"/>
                <a:cs typeface="Times New Roman" panose="02020603050405020304" pitchFamily="18" charset="0"/>
              </a:rPr>
              <a:t>1.Data Ingestion &amp; Preparation:</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Gather:</a:t>
            </a:r>
            <a:r>
              <a:rPr lang="en-US" sz="2400" dirty="0">
                <a:latin typeface="Times New Roman" panose="02020603050405020304" pitchFamily="18" charset="0"/>
                <a:cs typeface="Times New Roman" panose="02020603050405020304" pitchFamily="18" charset="0"/>
              </a:rPr>
              <a:t> Heart rate (ECG/PPG), GPS location, chatbot user input.</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Clean:</a:t>
            </a:r>
            <a:r>
              <a:rPr lang="en-US" sz="2400" dirty="0">
                <a:latin typeface="Times New Roman" panose="02020603050405020304" pitchFamily="18" charset="0"/>
                <a:cs typeface="Times New Roman" panose="02020603050405020304" pitchFamily="18" charset="0"/>
              </a:rPr>
              <a:t> Filter sensor noise, align timestamps, handle missing data, normalize values.</a:t>
            </a:r>
          </a:p>
          <a:p>
            <a:pPr>
              <a:buNone/>
            </a:pPr>
            <a:r>
              <a:rPr lang="en-US" sz="2400" b="1" dirty="0">
                <a:latin typeface="Times New Roman" panose="02020603050405020304" pitchFamily="18" charset="0"/>
                <a:cs typeface="Times New Roman" panose="02020603050405020304" pitchFamily="18" charset="0"/>
              </a:rPr>
              <a:t>2. Heart Rate Insights:</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Extract:</a:t>
            </a:r>
            <a:r>
              <a:rPr lang="en-US" sz="2400" dirty="0">
                <a:latin typeface="Times New Roman" panose="02020603050405020304" pitchFamily="18" charset="0"/>
                <a:cs typeface="Times New Roman" panose="02020603050405020304" pitchFamily="18" charset="0"/>
              </a:rPr>
              <a:t> HRV metrics (SDNN, RMSSD), heart rate trends/fluctuations.</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Detect:</a:t>
            </a:r>
            <a:r>
              <a:rPr lang="en-US" sz="2400" dirty="0">
                <a:latin typeface="Times New Roman" panose="02020603050405020304" pitchFamily="18" charset="0"/>
                <a:cs typeface="Times New Roman" panose="02020603050405020304" pitchFamily="18" charset="0"/>
              </a:rPr>
              <a:t> Anomalies (arrhythmias) via algorithms (e.g., Pan-Tompkins, Isolation Forest).</a:t>
            </a:r>
          </a:p>
          <a:p>
            <a:pPr>
              <a:buNone/>
            </a:pPr>
            <a:r>
              <a:rPr lang="en-US" sz="2400" b="1" dirty="0">
                <a:latin typeface="Times New Roman" panose="02020603050405020304" pitchFamily="18" charset="0"/>
                <a:cs typeface="Times New Roman" panose="02020603050405020304" pitchFamily="18" charset="0"/>
              </a:rPr>
              <a:t>3. Location Intelligence:</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Process:</a:t>
            </a:r>
            <a:r>
              <a:rPr lang="en-US" sz="2400" dirty="0">
                <a:latin typeface="Times New Roman" panose="02020603050405020304" pitchFamily="18" charset="0"/>
                <a:cs typeface="Times New Roman" panose="02020603050405020304" pitchFamily="18" charset="0"/>
              </a:rPr>
              <a:t> Smooth GPS trajectories, calculate speed/acceleration.</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Infer:</a:t>
            </a:r>
            <a:r>
              <a:rPr lang="en-US" sz="2400" dirty="0">
                <a:latin typeface="Times New Roman" panose="02020603050405020304" pitchFamily="18" charset="0"/>
                <a:cs typeface="Times New Roman" panose="02020603050405020304" pitchFamily="18" charset="0"/>
              </a:rPr>
              <a:t> Activity (walking, running) from location/sensor data.</a:t>
            </a:r>
          </a:p>
        </p:txBody>
      </p:sp>
      <p:sp>
        <p:nvSpPr>
          <p:cNvPr id="4" name="Slide Number Placeholder 3">
            <a:extLst>
              <a:ext uri="{FF2B5EF4-FFF2-40B4-BE49-F238E27FC236}">
                <a16:creationId xmlns:a16="http://schemas.microsoft.com/office/drawing/2014/main" id="{23D32B9D-A92C-01BD-F575-8A3E9DF309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23</a:t>
            </a:fld>
            <a:endParaRPr lang="en-US"/>
          </a:p>
        </p:txBody>
      </p:sp>
    </p:spTree>
    <p:extLst>
      <p:ext uri="{BB962C8B-B14F-4D97-AF65-F5344CB8AC3E}">
        <p14:creationId xmlns:p14="http://schemas.microsoft.com/office/powerpoint/2010/main" val="34719900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54FBD-C4DC-B5A2-BC6B-ADA4EBB29C41}"/>
              </a:ext>
            </a:extLst>
          </p:cNvPr>
          <p:cNvSpPr>
            <a:spLocks noGrp="1"/>
          </p:cNvSpPr>
          <p:nvPr>
            <p:ph type="title"/>
          </p:nvPr>
        </p:nvSpPr>
        <p:spPr/>
        <p:txBody>
          <a:bodyPr/>
          <a:lstStyle/>
          <a:p>
            <a:r>
              <a:rPr lang="en-US" dirty="0"/>
              <a:t>Implementation</a:t>
            </a:r>
          </a:p>
        </p:txBody>
      </p:sp>
      <p:sp>
        <p:nvSpPr>
          <p:cNvPr id="3" name="Text Placeholder 2">
            <a:extLst>
              <a:ext uri="{FF2B5EF4-FFF2-40B4-BE49-F238E27FC236}">
                <a16:creationId xmlns:a16="http://schemas.microsoft.com/office/drawing/2014/main" id="{1FEB20D0-0B71-F02D-B6F0-05C7C2D77F61}"/>
              </a:ext>
            </a:extLst>
          </p:cNvPr>
          <p:cNvSpPr>
            <a:spLocks noGrp="1"/>
          </p:cNvSpPr>
          <p:nvPr>
            <p:ph type="body" idx="1"/>
          </p:nvPr>
        </p:nvSpPr>
        <p:spPr/>
        <p:txBody>
          <a:bodyPr>
            <a:normAutofit fontScale="85000" lnSpcReduction="20000"/>
          </a:bodyPr>
          <a:lstStyle/>
          <a:p>
            <a:pPr>
              <a:buNone/>
            </a:pPr>
            <a:r>
              <a:rPr lang="en-US" sz="2800" b="1" dirty="0">
                <a:latin typeface="Times New Roman" panose="02020603050405020304" pitchFamily="18" charset="0"/>
                <a:cs typeface="Times New Roman" panose="02020603050405020304" pitchFamily="18" charset="0"/>
              </a:rPr>
              <a:t>4. AI Chatbot Interaction:</a:t>
            </a:r>
            <a:endParaRPr lang="en-US" sz="2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Develop:</a:t>
            </a:r>
            <a:r>
              <a:rPr lang="en-US" sz="2800" dirty="0">
                <a:latin typeface="Times New Roman" panose="02020603050405020304" pitchFamily="18" charset="0"/>
                <a:cs typeface="Times New Roman" panose="02020603050405020304" pitchFamily="18" charset="0"/>
              </a:rPr>
              <a:t> NLP-powered chatbot (e.g., Transformer models).</a:t>
            </a: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Train:</a:t>
            </a:r>
            <a:r>
              <a:rPr lang="en-US" sz="2800" dirty="0">
                <a:latin typeface="Times New Roman" panose="02020603050405020304" pitchFamily="18" charset="0"/>
                <a:cs typeface="Times New Roman" panose="02020603050405020304" pitchFamily="18" charset="0"/>
              </a:rPr>
              <a:t> On medical/health knowledge.</a:t>
            </a: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Integrate:</a:t>
            </a:r>
            <a:r>
              <a:rPr lang="en-US" sz="2800" dirty="0">
                <a:latin typeface="Times New Roman" panose="02020603050405020304" pitchFamily="18" charset="0"/>
                <a:cs typeface="Times New Roman" panose="02020603050405020304" pitchFamily="18" charset="0"/>
              </a:rPr>
              <a:t> With heart rate and location analysis.</a:t>
            </a:r>
          </a:p>
          <a:p>
            <a:pPr>
              <a:buNone/>
            </a:pPr>
            <a:r>
              <a:rPr lang="en-US" sz="2800" b="1" dirty="0">
                <a:latin typeface="Times New Roman" panose="02020603050405020304" pitchFamily="18" charset="0"/>
                <a:cs typeface="Times New Roman" panose="02020603050405020304" pitchFamily="18" charset="0"/>
              </a:rPr>
              <a:t>5. Contextual Data Fusion:</a:t>
            </a:r>
            <a:endParaRPr lang="en-US" sz="2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Merge:</a:t>
            </a:r>
            <a:r>
              <a:rPr lang="en-US" sz="2800" dirty="0">
                <a:latin typeface="Times New Roman" panose="02020603050405020304" pitchFamily="18" charset="0"/>
                <a:cs typeface="Times New Roman" panose="02020603050405020304" pitchFamily="18" charset="0"/>
              </a:rPr>
              <a:t> Heart rate, location, chatbot data.</a:t>
            </a: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Analyze:</a:t>
            </a:r>
            <a:r>
              <a:rPr lang="en-US" sz="2800" dirty="0">
                <a:latin typeface="Times New Roman" panose="02020603050405020304" pitchFamily="18" charset="0"/>
                <a:cs typeface="Times New Roman" panose="02020603050405020304" pitchFamily="18" charset="0"/>
              </a:rPr>
              <a:t> Relationships between data streams.</a:t>
            </a: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Generate:</a:t>
            </a:r>
            <a:r>
              <a:rPr lang="en-US" sz="2800" dirty="0">
                <a:latin typeface="Times New Roman" panose="02020603050405020304" pitchFamily="18" charset="0"/>
                <a:cs typeface="Times New Roman" panose="02020603050405020304" pitchFamily="18" charset="0"/>
              </a:rPr>
              <a:t> Contextual insights (e.g., "Heart rate spike during run at X location").</a:t>
            </a:r>
          </a:p>
          <a:p>
            <a:pPr>
              <a:buNone/>
            </a:pPr>
            <a:r>
              <a:rPr lang="en-US" sz="2800" b="1" dirty="0">
                <a:latin typeface="Times New Roman" panose="02020603050405020304" pitchFamily="18" charset="0"/>
                <a:cs typeface="Times New Roman" panose="02020603050405020304" pitchFamily="18" charset="0"/>
              </a:rPr>
              <a:t>6. Actionable Output:</a:t>
            </a:r>
            <a:endParaRPr lang="en-US" sz="2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Alert:</a:t>
            </a:r>
            <a:r>
              <a:rPr lang="en-US" sz="2800" dirty="0">
                <a:latin typeface="Times New Roman" panose="02020603050405020304" pitchFamily="18" charset="0"/>
                <a:cs typeface="Times New Roman" panose="02020603050405020304" pitchFamily="18" charset="0"/>
              </a:rPr>
              <a:t> Users to potential health risks.</a:t>
            </a: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Visualize:</a:t>
            </a:r>
            <a:r>
              <a:rPr lang="en-US" sz="2800" dirty="0">
                <a:latin typeface="Times New Roman" panose="02020603050405020304" pitchFamily="18" charset="0"/>
                <a:cs typeface="Times New Roman" panose="02020603050405020304" pitchFamily="18" charset="0"/>
              </a:rPr>
              <a:t> Data and analysis in a user-friendly </a:t>
            </a:r>
          </a:p>
          <a:p>
            <a:pPr marL="114300" indent="0">
              <a:buNone/>
            </a:pPr>
            <a:endParaRPr lang="en-US" dirty="0"/>
          </a:p>
        </p:txBody>
      </p:sp>
      <p:sp>
        <p:nvSpPr>
          <p:cNvPr id="4" name="Slide Number Placeholder 3">
            <a:extLst>
              <a:ext uri="{FF2B5EF4-FFF2-40B4-BE49-F238E27FC236}">
                <a16:creationId xmlns:a16="http://schemas.microsoft.com/office/drawing/2014/main" id="{862BBDF8-39A8-3CCA-1726-8E8B356A63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24</a:t>
            </a:fld>
            <a:endParaRPr lang="en-US"/>
          </a:p>
        </p:txBody>
      </p:sp>
    </p:spTree>
    <p:extLst>
      <p:ext uri="{BB962C8B-B14F-4D97-AF65-F5344CB8AC3E}">
        <p14:creationId xmlns:p14="http://schemas.microsoft.com/office/powerpoint/2010/main" val="30696513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9E816-D09A-7A00-17FB-E8BE37CD9EAF}"/>
              </a:ext>
            </a:extLst>
          </p:cNvPr>
          <p:cNvSpPr>
            <a:spLocks noGrp="1"/>
          </p:cNvSpPr>
          <p:nvPr>
            <p:ph type="title"/>
          </p:nvPr>
        </p:nvSpPr>
        <p:spPr>
          <a:xfrm>
            <a:off x="1492898" y="365126"/>
            <a:ext cx="9860902" cy="1208036"/>
          </a:xfrm>
        </p:spPr>
        <p:txBody>
          <a:bodyPr/>
          <a:lstStyle/>
          <a:p>
            <a:r>
              <a:rPr lang="en-IN" dirty="0"/>
              <a:t>Implementation </a:t>
            </a:r>
          </a:p>
        </p:txBody>
      </p:sp>
      <p:sp>
        <p:nvSpPr>
          <p:cNvPr id="3" name="Text Placeholder 2">
            <a:extLst>
              <a:ext uri="{FF2B5EF4-FFF2-40B4-BE49-F238E27FC236}">
                <a16:creationId xmlns:a16="http://schemas.microsoft.com/office/drawing/2014/main" id="{6233C684-AB9F-D0A0-E05F-0192856A821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B083E5D-7951-0A6E-CC6A-CFC26A780D1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25</a:t>
            </a:fld>
            <a:endParaRPr lang="en-US"/>
          </a:p>
        </p:txBody>
      </p:sp>
      <p:pic>
        <p:nvPicPr>
          <p:cNvPr id="6" name="Picture 5">
            <a:extLst>
              <a:ext uri="{FF2B5EF4-FFF2-40B4-BE49-F238E27FC236}">
                <a16:creationId xmlns:a16="http://schemas.microsoft.com/office/drawing/2014/main" id="{32CC492D-8081-FE70-806B-98AA271CAED5}"/>
              </a:ext>
            </a:extLst>
          </p:cNvPr>
          <p:cNvPicPr>
            <a:picLocks noChangeAspect="1"/>
          </p:cNvPicPr>
          <p:nvPr/>
        </p:nvPicPr>
        <p:blipFill>
          <a:blip r:embed="rId2"/>
          <a:stretch>
            <a:fillRect/>
          </a:stretch>
        </p:blipFill>
        <p:spPr>
          <a:xfrm>
            <a:off x="-26232" y="1825625"/>
            <a:ext cx="12216627" cy="5682469"/>
          </a:xfrm>
          <a:prstGeom prst="rect">
            <a:avLst/>
          </a:prstGeom>
        </p:spPr>
      </p:pic>
    </p:spTree>
    <p:extLst>
      <p:ext uri="{BB962C8B-B14F-4D97-AF65-F5344CB8AC3E}">
        <p14:creationId xmlns:p14="http://schemas.microsoft.com/office/powerpoint/2010/main" val="3467290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4E67-3F56-776B-0616-0B04A7C113CA}"/>
              </a:ext>
            </a:extLst>
          </p:cNvPr>
          <p:cNvSpPr>
            <a:spLocks noGrp="1"/>
          </p:cNvSpPr>
          <p:nvPr>
            <p:ph type="title"/>
          </p:nvPr>
        </p:nvSpPr>
        <p:spPr/>
        <p:txBody>
          <a:bodyPr/>
          <a:lstStyle/>
          <a:p>
            <a:r>
              <a:rPr lang="en-IN"/>
              <a:t>Formulas </a:t>
            </a:r>
            <a:endParaRPr lang="en-IN" dirty="0"/>
          </a:p>
        </p:txBody>
      </p:sp>
      <p:sp>
        <p:nvSpPr>
          <p:cNvPr id="3" name="Text Placeholder 2">
            <a:extLst>
              <a:ext uri="{FF2B5EF4-FFF2-40B4-BE49-F238E27FC236}">
                <a16:creationId xmlns:a16="http://schemas.microsoft.com/office/drawing/2014/main" id="{952FD2B8-FA4F-636E-6954-7578E4FF77C3}"/>
              </a:ext>
            </a:extLst>
          </p:cNvPr>
          <p:cNvSpPr>
            <a:spLocks noGrp="1"/>
          </p:cNvSpPr>
          <p:nvPr>
            <p:ph type="body" idx="1"/>
          </p:nvPr>
        </p:nvSpPr>
        <p:spPr/>
        <p:txBody>
          <a:bodyPr/>
          <a:lstStyle/>
          <a:p>
            <a:r>
              <a:rPr lang="en-IN"/>
              <a:t> </a:t>
            </a:r>
            <a:endParaRPr lang="en-IN" dirty="0"/>
          </a:p>
        </p:txBody>
      </p:sp>
      <p:sp>
        <p:nvSpPr>
          <p:cNvPr id="4" name="Slide Number Placeholder 3">
            <a:extLst>
              <a:ext uri="{FF2B5EF4-FFF2-40B4-BE49-F238E27FC236}">
                <a16:creationId xmlns:a16="http://schemas.microsoft.com/office/drawing/2014/main" id="{84F9138C-8D20-9565-E117-68A55B10F19D}"/>
              </a:ext>
            </a:extLst>
          </p:cNvPr>
          <p:cNvSpPr>
            <a:spLocks noGrp="1"/>
          </p:cNvSpPr>
          <p:nvPr>
            <p:ph type="sldNum" idx="12"/>
          </p:nvPr>
        </p:nvSpPr>
        <p:spPr/>
        <p:txBody>
          <a:bodyPr/>
          <a:lstStyle/>
          <a:p>
            <a:pPr lvl="0"/>
            <a:fld id="{00000000-1234-1234-1234-123412341234}" type="slidenum">
              <a:rPr lang="en-US" smtClean="0"/>
              <a:pPr lvl="0"/>
              <a:t>26</a:t>
            </a:fld>
            <a:endParaRPr lang="en-US"/>
          </a:p>
        </p:txBody>
      </p:sp>
      <p:pic>
        <p:nvPicPr>
          <p:cNvPr id="7" name="Picture 6">
            <a:extLst>
              <a:ext uri="{FF2B5EF4-FFF2-40B4-BE49-F238E27FC236}">
                <a16:creationId xmlns:a16="http://schemas.microsoft.com/office/drawing/2014/main" id="{F608B7EB-A5B5-345B-30C8-6B3CAE66F5CD}"/>
              </a:ext>
            </a:extLst>
          </p:cNvPr>
          <p:cNvPicPr>
            <a:picLocks noChangeAspect="1"/>
          </p:cNvPicPr>
          <p:nvPr/>
        </p:nvPicPr>
        <p:blipFill>
          <a:blip r:embed="rId2"/>
          <a:stretch>
            <a:fillRect/>
          </a:stretch>
        </p:blipFill>
        <p:spPr>
          <a:xfrm>
            <a:off x="1317523" y="1845540"/>
            <a:ext cx="9176060" cy="4647335"/>
          </a:xfrm>
          <a:prstGeom prst="rect">
            <a:avLst/>
          </a:prstGeom>
        </p:spPr>
      </p:pic>
    </p:spTree>
    <p:extLst>
      <p:ext uri="{BB962C8B-B14F-4D97-AF65-F5344CB8AC3E}">
        <p14:creationId xmlns:p14="http://schemas.microsoft.com/office/powerpoint/2010/main" val="26270451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F388A-BE03-A786-9CBE-F437DC293A7F}"/>
              </a:ext>
            </a:extLst>
          </p:cNvPr>
          <p:cNvSpPr>
            <a:spLocks noGrp="1"/>
          </p:cNvSpPr>
          <p:nvPr>
            <p:ph type="title"/>
          </p:nvPr>
        </p:nvSpPr>
        <p:spPr/>
        <p:txBody>
          <a:bodyPr/>
          <a:lstStyle/>
          <a:p>
            <a:r>
              <a:rPr lang="en-US"/>
              <a:t>Performance Metrics</a:t>
            </a:r>
            <a:endParaRPr lang="en-US" dirty="0"/>
          </a:p>
        </p:txBody>
      </p:sp>
      <p:sp>
        <p:nvSpPr>
          <p:cNvPr id="4" name="Slide Number Placeholder 3">
            <a:extLst>
              <a:ext uri="{FF2B5EF4-FFF2-40B4-BE49-F238E27FC236}">
                <a16:creationId xmlns:a16="http://schemas.microsoft.com/office/drawing/2014/main" id="{A8E165B9-D6F3-2D03-84D0-CB2E5E4B0EAD}"/>
              </a:ext>
            </a:extLst>
          </p:cNvPr>
          <p:cNvSpPr>
            <a:spLocks noGrp="1"/>
          </p:cNvSpPr>
          <p:nvPr>
            <p:ph type="sldNum" idx="12"/>
          </p:nvPr>
        </p:nvSpPr>
        <p:spPr/>
        <p:txBody>
          <a:bodyPr/>
          <a:lstStyle/>
          <a:p>
            <a:pPr lvl="0"/>
            <a:fld id="{00000000-1234-1234-1234-123412341234}" type="slidenum">
              <a:rPr lang="en-US" smtClean="0"/>
              <a:pPr lvl="0"/>
              <a:t>27</a:t>
            </a:fld>
            <a:endParaRPr lang="en-US"/>
          </a:p>
        </p:txBody>
      </p:sp>
      <p:graphicFrame>
        <p:nvGraphicFramePr>
          <p:cNvPr id="5" name="Table 4">
            <a:extLst>
              <a:ext uri="{FF2B5EF4-FFF2-40B4-BE49-F238E27FC236}">
                <a16:creationId xmlns:a16="http://schemas.microsoft.com/office/drawing/2014/main" id="{5BB6FE3B-3862-BBAC-CAD1-34708A2C7A69}"/>
              </a:ext>
            </a:extLst>
          </p:cNvPr>
          <p:cNvGraphicFramePr>
            <a:graphicFrameLocks noGrp="1"/>
          </p:cNvGraphicFramePr>
          <p:nvPr>
            <p:extLst>
              <p:ext uri="{D42A27DB-BD31-4B8C-83A1-F6EECF244321}">
                <p14:modId xmlns:p14="http://schemas.microsoft.com/office/powerpoint/2010/main" val="375247894"/>
              </p:ext>
            </p:extLst>
          </p:nvPr>
        </p:nvGraphicFramePr>
        <p:xfrm>
          <a:off x="763384" y="2331879"/>
          <a:ext cx="10515601" cy="3749040"/>
        </p:xfrm>
        <a:graphic>
          <a:graphicData uri="http://schemas.openxmlformats.org/drawingml/2006/table">
            <a:tbl>
              <a:tblPr/>
              <a:tblGrid>
                <a:gridCol w="1726249">
                  <a:extLst>
                    <a:ext uri="{9D8B030D-6E8A-4147-A177-3AD203B41FA5}">
                      <a16:colId xmlns:a16="http://schemas.microsoft.com/office/drawing/2014/main" val="2225805522"/>
                    </a:ext>
                  </a:extLst>
                </a:gridCol>
                <a:gridCol w="4394676">
                  <a:extLst>
                    <a:ext uri="{9D8B030D-6E8A-4147-A177-3AD203B41FA5}">
                      <a16:colId xmlns:a16="http://schemas.microsoft.com/office/drawing/2014/main" val="83375822"/>
                    </a:ext>
                  </a:extLst>
                </a:gridCol>
                <a:gridCol w="4394676">
                  <a:extLst>
                    <a:ext uri="{9D8B030D-6E8A-4147-A177-3AD203B41FA5}">
                      <a16:colId xmlns:a16="http://schemas.microsoft.com/office/drawing/2014/main" val="20002"/>
                    </a:ext>
                  </a:extLst>
                </a:gridCol>
              </a:tblGrid>
              <a:tr h="0">
                <a:tc>
                  <a:txBody>
                    <a:bodyPr/>
                    <a:lstStyle/>
                    <a:p>
                      <a:pPr algn="l"/>
                      <a:r>
                        <a:rPr lang="en-IN" sz="2400" b="1" dirty="0">
                          <a:effectLst/>
                          <a:latin typeface="Times New Roman" panose="02020603050405020304" pitchFamily="18" charset="0"/>
                          <a:cs typeface="Times New Roman" panose="02020603050405020304" pitchFamily="18" charset="0"/>
                        </a:rPr>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N" sz="2400" b="1" dirty="0">
                          <a:effectLst/>
                          <a:latin typeface="Times New Roman" panose="02020603050405020304" pitchFamily="18" charset="0"/>
                          <a:cs typeface="Times New Roman" panose="02020603050405020304" pitchFamily="18" charset="0"/>
                        </a:rPr>
                        <a:t>Metrics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N" sz="2400" b="1" dirty="0">
                          <a:effectLst/>
                          <a:latin typeface="Times New Roman" panose="02020603050405020304" pitchFamily="18" charset="0"/>
                          <a:cs typeface="Times New Roman" panose="02020603050405020304" pitchFamily="18" charset="0"/>
                        </a:rPr>
                        <a:t>Values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856042"/>
                  </a:ext>
                </a:extLst>
              </a:tr>
              <a:tr h="0">
                <a:tc>
                  <a:txBody>
                    <a:bodyPr/>
                    <a:lstStyle/>
                    <a:p>
                      <a:pPr algn="l"/>
                      <a:r>
                        <a:rPr lang="en-IN" sz="2400" dirty="0">
                          <a:effectLst/>
                          <a:latin typeface="Times New Roman" panose="02020603050405020304" pitchFamily="18" charset="0"/>
                          <a:cs typeface="Times New Roman" panose="02020603050405020304" pitchFamily="18" charset="0"/>
                        </a:rPr>
                        <a:t>ARIMA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400" dirty="0">
                          <a:effectLst/>
                          <a:latin typeface="Times New Roman" panose="02020603050405020304" pitchFamily="18" charset="0"/>
                          <a:cs typeface="Times New Roman" panose="02020603050405020304" pitchFamily="18" charset="0"/>
                        </a:rPr>
                        <a:t>MAE, RMSE, MAPE, Precision, Recall, F1 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US" sz="24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8676421"/>
                  </a:ext>
                </a:extLst>
              </a:tr>
              <a:tr h="0">
                <a:tc>
                  <a:txBody>
                    <a:bodyPr/>
                    <a:lstStyle/>
                    <a:p>
                      <a:pPr algn="l"/>
                      <a:r>
                        <a:rPr lang="en-IN" sz="2400" dirty="0">
                          <a:effectLst/>
                          <a:latin typeface="Times New Roman" panose="02020603050405020304" pitchFamily="18" charset="0"/>
                          <a:cs typeface="Times New Roman" panose="02020603050405020304" pitchFamily="18" charset="0"/>
                        </a:rPr>
                        <a:t>Live Location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N" sz="2400" dirty="0">
                          <a:effectLst/>
                          <a:latin typeface="Times New Roman" panose="02020603050405020304" pitchFamily="18" charset="0"/>
                          <a:cs typeface="Times New Roman" panose="02020603050405020304" pitchFamily="18" charset="0"/>
                        </a:rPr>
                        <a:t>Update Latency, Location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IN" sz="24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0740433"/>
                  </a:ext>
                </a:extLst>
              </a:tr>
              <a:tr h="0">
                <a:tc>
                  <a:txBody>
                    <a:bodyPr/>
                    <a:lstStyle/>
                    <a:p>
                      <a:pPr algn="l"/>
                      <a:r>
                        <a:rPr lang="en-IN" sz="2400" dirty="0">
                          <a:effectLst/>
                          <a:latin typeface="Times New Roman" panose="02020603050405020304" pitchFamily="18" charset="0"/>
                          <a:cs typeface="Times New Roman" panose="02020603050405020304" pitchFamily="18" charset="0"/>
                        </a:rPr>
                        <a:t>AI Chatbot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400" dirty="0">
                          <a:effectLst/>
                          <a:latin typeface="Times New Roman" panose="02020603050405020304" pitchFamily="18" charset="0"/>
                          <a:cs typeface="Times New Roman" panose="02020603050405020304" pitchFamily="18" charset="0"/>
                        </a:rPr>
                        <a:t>Intent Accuracy, Response Time, Fallback Rate, User Satisfaction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US" sz="24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8279157"/>
                  </a:ext>
                </a:extLst>
              </a:tr>
              <a:tr h="0">
                <a:tc>
                  <a:txBody>
                    <a:bodyPr/>
                    <a:lstStyle/>
                    <a:p>
                      <a:pPr algn="l"/>
                      <a:r>
                        <a:rPr lang="en-IN" sz="2400" dirty="0">
                          <a:effectLst/>
                          <a:latin typeface="Times New Roman" panose="02020603050405020304" pitchFamily="18" charset="0"/>
                          <a:cs typeface="Times New Roman" panose="02020603050405020304" pitchFamily="18" charset="0"/>
                        </a:rPr>
                        <a:t>Overall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400" dirty="0">
                          <a:effectLst/>
                          <a:latin typeface="Times New Roman" panose="02020603050405020304" pitchFamily="18" charset="0"/>
                          <a:cs typeface="Times New Roman" panose="02020603050405020304" pitchFamily="18" charset="0"/>
                        </a:rPr>
                        <a:t>Uptime, Alert Delivery Time, Data Transmission Success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US" sz="24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7133530"/>
                  </a:ext>
                </a:extLst>
              </a:tr>
            </a:tbl>
          </a:graphicData>
        </a:graphic>
      </p:graphicFrame>
    </p:spTree>
    <p:extLst>
      <p:ext uri="{BB962C8B-B14F-4D97-AF65-F5344CB8AC3E}">
        <p14:creationId xmlns:p14="http://schemas.microsoft.com/office/powerpoint/2010/main" val="29168718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0B7B4-A48E-8763-5F90-77189038DF19}"/>
              </a:ext>
            </a:extLst>
          </p:cNvPr>
          <p:cNvSpPr>
            <a:spLocks noGrp="1"/>
          </p:cNvSpPr>
          <p:nvPr>
            <p:ph type="title"/>
          </p:nvPr>
        </p:nvSpPr>
        <p:spPr/>
        <p:txBody>
          <a:bodyPr/>
          <a:lstStyle/>
          <a:p>
            <a:r>
              <a:rPr lang="en-US" dirty="0"/>
              <a:t>conclusion</a:t>
            </a:r>
          </a:p>
        </p:txBody>
      </p:sp>
      <p:sp>
        <p:nvSpPr>
          <p:cNvPr id="4" name="Slide Number Placeholder 3">
            <a:extLst>
              <a:ext uri="{FF2B5EF4-FFF2-40B4-BE49-F238E27FC236}">
                <a16:creationId xmlns:a16="http://schemas.microsoft.com/office/drawing/2014/main" id="{9997E3B6-B12A-5B10-B93C-B8AE572F1D3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28</a:t>
            </a:fld>
            <a:endParaRPr lang="en-US"/>
          </a:p>
        </p:txBody>
      </p:sp>
      <p:graphicFrame>
        <p:nvGraphicFramePr>
          <p:cNvPr id="5" name="Table 4">
            <a:extLst>
              <a:ext uri="{FF2B5EF4-FFF2-40B4-BE49-F238E27FC236}">
                <a16:creationId xmlns:a16="http://schemas.microsoft.com/office/drawing/2014/main" id="{5FA79944-478F-8CF2-3189-60185538B02E}"/>
              </a:ext>
            </a:extLst>
          </p:cNvPr>
          <p:cNvGraphicFramePr>
            <a:graphicFrameLocks noGrp="1"/>
          </p:cNvGraphicFramePr>
          <p:nvPr>
            <p:extLst>
              <p:ext uri="{D42A27DB-BD31-4B8C-83A1-F6EECF244321}">
                <p14:modId xmlns:p14="http://schemas.microsoft.com/office/powerpoint/2010/main" val="568441505"/>
              </p:ext>
            </p:extLst>
          </p:nvPr>
        </p:nvGraphicFramePr>
        <p:xfrm>
          <a:off x="114989" y="1690688"/>
          <a:ext cx="11437914" cy="4820048"/>
        </p:xfrm>
        <a:graphic>
          <a:graphicData uri="http://schemas.openxmlformats.org/drawingml/2006/table">
            <a:tbl>
              <a:tblPr/>
              <a:tblGrid>
                <a:gridCol w="3812638">
                  <a:extLst>
                    <a:ext uri="{9D8B030D-6E8A-4147-A177-3AD203B41FA5}">
                      <a16:colId xmlns:a16="http://schemas.microsoft.com/office/drawing/2014/main" val="3873485752"/>
                    </a:ext>
                  </a:extLst>
                </a:gridCol>
                <a:gridCol w="3812638">
                  <a:extLst>
                    <a:ext uri="{9D8B030D-6E8A-4147-A177-3AD203B41FA5}">
                      <a16:colId xmlns:a16="http://schemas.microsoft.com/office/drawing/2014/main" val="3529109621"/>
                    </a:ext>
                  </a:extLst>
                </a:gridCol>
                <a:gridCol w="3812638">
                  <a:extLst>
                    <a:ext uri="{9D8B030D-6E8A-4147-A177-3AD203B41FA5}">
                      <a16:colId xmlns:a16="http://schemas.microsoft.com/office/drawing/2014/main" val="2304636950"/>
                    </a:ext>
                  </a:extLst>
                </a:gridCol>
              </a:tblGrid>
              <a:tr h="668205">
                <a:tc>
                  <a:txBody>
                    <a:bodyPr/>
                    <a:lstStyle/>
                    <a:p>
                      <a:r>
                        <a:rPr lang="en-IN" b="1" dirty="0">
                          <a:latin typeface="Times New Roman" panose="02020603050405020304" pitchFamily="18" charset="0"/>
                          <a:cs typeface="Times New Roman" panose="02020603050405020304" pitchFamily="18" charset="0"/>
                        </a:rPr>
                        <a:t>Feature</a:t>
                      </a:r>
                      <a:endParaRPr lang="en-IN"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b="1">
                          <a:latin typeface="Times New Roman" panose="02020603050405020304" pitchFamily="18" charset="0"/>
                          <a:cs typeface="Times New Roman" panose="02020603050405020304" pitchFamily="18" charset="0"/>
                        </a:rPr>
                        <a:t>Proposed System</a:t>
                      </a:r>
                      <a:endParaRPr lang="en-IN">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b="1">
                          <a:latin typeface="Times New Roman" panose="02020603050405020304" pitchFamily="18" charset="0"/>
                          <a:cs typeface="Times New Roman" panose="02020603050405020304" pitchFamily="18" charset="0"/>
                        </a:rPr>
                        <a:t>Existing System</a:t>
                      </a:r>
                      <a:endParaRPr lang="en-IN">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1751624"/>
                  </a:ext>
                </a:extLst>
              </a:tr>
              <a:tr h="701455">
                <a:tc>
                  <a:txBody>
                    <a:bodyPr/>
                    <a:lstStyle/>
                    <a:p>
                      <a:r>
                        <a:rPr lang="en-IN" b="1">
                          <a:latin typeface="Times New Roman" panose="02020603050405020304" pitchFamily="18" charset="0"/>
                          <a:cs typeface="Times New Roman" panose="02020603050405020304" pitchFamily="18" charset="0"/>
                        </a:rPr>
                        <a:t>Predictive Analytics</a:t>
                      </a:r>
                      <a:endParaRPr lang="en-IN">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atin typeface="Times New Roman" panose="02020603050405020304" pitchFamily="18" charset="0"/>
                          <a:cs typeface="Times New Roman" panose="02020603050405020304" pitchFamily="18" charset="0"/>
                        </a:rPr>
                        <a:t>Uses </a:t>
                      </a:r>
                      <a:r>
                        <a:rPr lang="en-US" b="1">
                          <a:latin typeface="Times New Roman" panose="02020603050405020304" pitchFamily="18" charset="0"/>
                          <a:cs typeface="Times New Roman" panose="02020603050405020304" pitchFamily="18" charset="0"/>
                        </a:rPr>
                        <a:t>ARIMA modeling</a:t>
                      </a:r>
                      <a:r>
                        <a:rPr lang="en-US">
                          <a:latin typeface="Times New Roman" panose="02020603050405020304" pitchFamily="18" charset="0"/>
                          <a:cs typeface="Times New Roman" panose="02020603050405020304" pitchFamily="18" charset="0"/>
                        </a:rPr>
                        <a:t> to predict future heart rate trends based on historical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atin typeface="Times New Roman" panose="02020603050405020304" pitchFamily="18" charset="0"/>
                          <a:cs typeface="Times New Roman" panose="02020603050405020304" pitchFamily="18" charset="0"/>
                        </a:rPr>
                        <a:t>Typically provides </a:t>
                      </a:r>
                      <a:r>
                        <a:rPr lang="en-US" b="1">
                          <a:latin typeface="Times New Roman" panose="02020603050405020304" pitchFamily="18" charset="0"/>
                          <a:cs typeface="Times New Roman" panose="02020603050405020304" pitchFamily="18" charset="0"/>
                        </a:rPr>
                        <a:t>current or historical heart rate data</a:t>
                      </a:r>
                      <a:r>
                        <a:rPr lang="en-US">
                          <a:latin typeface="Times New Roman" panose="02020603050405020304" pitchFamily="18" charset="0"/>
                          <a:cs typeface="Times New Roman" panose="02020603050405020304" pitchFamily="18" charset="0"/>
                        </a:rPr>
                        <a:t> with no predictions.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0597547"/>
                  </a:ext>
                </a:extLst>
              </a:tr>
              <a:tr h="729598">
                <a:tc>
                  <a:txBody>
                    <a:bodyPr/>
                    <a:lstStyle/>
                    <a:p>
                      <a:r>
                        <a:rPr lang="en-IN" b="1">
                          <a:latin typeface="Times New Roman" panose="02020603050405020304" pitchFamily="18" charset="0"/>
                          <a:cs typeface="Times New Roman" panose="02020603050405020304" pitchFamily="18" charset="0"/>
                        </a:rPr>
                        <a:t>Contextual Insights</a:t>
                      </a:r>
                      <a:endParaRPr lang="en-IN">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atin typeface="Times New Roman" panose="02020603050405020304" pitchFamily="18" charset="0"/>
                          <a:cs typeface="Times New Roman" panose="02020603050405020304" pitchFamily="18" charset="0"/>
                        </a:rPr>
                        <a:t>Integrates </a:t>
                      </a:r>
                      <a:r>
                        <a:rPr lang="en-US" b="1">
                          <a:latin typeface="Times New Roman" panose="02020603050405020304" pitchFamily="18" charset="0"/>
                          <a:cs typeface="Times New Roman" panose="02020603050405020304" pitchFamily="18" charset="0"/>
                        </a:rPr>
                        <a:t>live location tracking</a:t>
                      </a:r>
                      <a:r>
                        <a:rPr lang="en-US">
                          <a:latin typeface="Times New Roman" panose="02020603050405020304" pitchFamily="18" charset="0"/>
                          <a:cs typeface="Times New Roman" panose="02020603050405020304" pitchFamily="18" charset="0"/>
                        </a:rPr>
                        <a:t> and activity data for more accurate heart rate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atin typeface="Times New Roman" panose="02020603050405020304" pitchFamily="18" charset="0"/>
                          <a:cs typeface="Times New Roman" panose="02020603050405020304" pitchFamily="18" charset="0"/>
                        </a:rPr>
                        <a:t>Does not provide </a:t>
                      </a:r>
                      <a:r>
                        <a:rPr lang="en-US" b="1">
                          <a:latin typeface="Times New Roman" panose="02020603050405020304" pitchFamily="18" charset="0"/>
                          <a:cs typeface="Times New Roman" panose="02020603050405020304" pitchFamily="18" charset="0"/>
                        </a:rPr>
                        <a:t>contextual insights</a:t>
                      </a:r>
                      <a:r>
                        <a:rPr lang="en-US">
                          <a:latin typeface="Times New Roman" panose="02020603050405020304" pitchFamily="18" charset="0"/>
                          <a:cs typeface="Times New Roman" panose="02020603050405020304" pitchFamily="18" charset="0"/>
                        </a:rPr>
                        <a:t> based on location or activity.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84300509"/>
                  </a:ext>
                </a:extLst>
              </a:tr>
              <a:tr h="729598">
                <a:tc>
                  <a:txBody>
                    <a:bodyPr/>
                    <a:lstStyle/>
                    <a:p>
                      <a:r>
                        <a:rPr lang="en-IN" b="1">
                          <a:latin typeface="Times New Roman" panose="02020603050405020304" pitchFamily="18" charset="0"/>
                          <a:cs typeface="Times New Roman" panose="02020603050405020304" pitchFamily="18" charset="0"/>
                        </a:rPr>
                        <a:t>AI Integration</a:t>
                      </a:r>
                      <a:endParaRPr lang="en-IN">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1">
                          <a:latin typeface="Times New Roman" panose="02020603050405020304" pitchFamily="18" charset="0"/>
                          <a:cs typeface="Times New Roman" panose="02020603050405020304" pitchFamily="18" charset="0"/>
                        </a:rPr>
                        <a:t>AI chatbot</a:t>
                      </a:r>
                      <a:r>
                        <a:rPr lang="en-US">
                          <a:latin typeface="Times New Roman" panose="02020603050405020304" pitchFamily="18" charset="0"/>
                          <a:cs typeface="Times New Roman" panose="02020603050405020304" pitchFamily="18" charset="0"/>
                        </a:rPr>
                        <a:t> offers personalized health advice and real-time data interpretation.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atin typeface="Times New Roman" panose="02020603050405020304" pitchFamily="18" charset="0"/>
                          <a:cs typeface="Times New Roman" panose="02020603050405020304" pitchFamily="18" charset="0"/>
                        </a:rPr>
                        <a:t>Lacks </a:t>
                      </a:r>
                      <a:r>
                        <a:rPr lang="en-US" b="1">
                          <a:latin typeface="Times New Roman" panose="02020603050405020304" pitchFamily="18" charset="0"/>
                          <a:cs typeface="Times New Roman" panose="02020603050405020304" pitchFamily="18" charset="0"/>
                        </a:rPr>
                        <a:t>AI</a:t>
                      </a:r>
                      <a:r>
                        <a:rPr lang="en-US">
                          <a:latin typeface="Times New Roman" panose="02020603050405020304" pitchFamily="18" charset="0"/>
                          <a:cs typeface="Times New Roman" panose="02020603050405020304" pitchFamily="18" charset="0"/>
                        </a:rPr>
                        <a:t> capabilities for personalized recommendations or insights.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5617976"/>
                  </a:ext>
                </a:extLst>
              </a:tr>
              <a:tr h="610015">
                <a:tc>
                  <a:txBody>
                    <a:bodyPr/>
                    <a:lstStyle/>
                    <a:p>
                      <a:r>
                        <a:rPr lang="en-IN" b="1">
                          <a:latin typeface="Times New Roman" panose="02020603050405020304" pitchFamily="18" charset="0"/>
                          <a:cs typeface="Times New Roman" panose="02020603050405020304" pitchFamily="18" charset="0"/>
                        </a:rPr>
                        <a:t>Emergency Alerts</a:t>
                      </a:r>
                      <a:endParaRPr lang="en-IN">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atin typeface="Times New Roman" panose="02020603050405020304" pitchFamily="18" charset="0"/>
                          <a:cs typeface="Times New Roman" panose="02020603050405020304" pitchFamily="18" charset="0"/>
                        </a:rPr>
                        <a:t>Triggers </a:t>
                      </a:r>
                      <a:r>
                        <a:rPr lang="en-US" b="1">
                          <a:latin typeface="Times New Roman" panose="02020603050405020304" pitchFamily="18" charset="0"/>
                          <a:cs typeface="Times New Roman" panose="02020603050405020304" pitchFamily="18" charset="0"/>
                        </a:rPr>
                        <a:t>real-time emergency alerts</a:t>
                      </a:r>
                      <a:r>
                        <a:rPr lang="en-US">
                          <a:latin typeface="Times New Roman" panose="02020603050405020304" pitchFamily="18" charset="0"/>
                          <a:cs typeface="Times New Roman" panose="02020603050405020304" pitchFamily="18" charset="0"/>
                        </a:rPr>
                        <a:t> based on heart rate abnormalities, integrating location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atin typeface="Times New Roman" panose="02020603050405020304" pitchFamily="18" charset="0"/>
                          <a:cs typeface="Times New Roman" panose="02020603050405020304" pitchFamily="18" charset="0"/>
                        </a:rPr>
                        <a:t>Limited </a:t>
                      </a:r>
                      <a:r>
                        <a:rPr lang="en-US" b="1">
                          <a:latin typeface="Times New Roman" panose="02020603050405020304" pitchFamily="18" charset="0"/>
                          <a:cs typeface="Times New Roman" panose="02020603050405020304" pitchFamily="18" charset="0"/>
                        </a:rPr>
                        <a:t>alert functionality</a:t>
                      </a:r>
                      <a:r>
                        <a:rPr lang="en-US">
                          <a:latin typeface="Times New Roman" panose="02020603050405020304" pitchFamily="18" charset="0"/>
                          <a:cs typeface="Times New Roman" panose="02020603050405020304" pitchFamily="18" charset="0"/>
                        </a:rPr>
                        <a:t>, often not integrated with location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5566906"/>
                  </a:ext>
                </a:extLst>
              </a:tr>
              <a:tr h="651579">
                <a:tc>
                  <a:txBody>
                    <a:bodyPr/>
                    <a:lstStyle/>
                    <a:p>
                      <a:r>
                        <a:rPr lang="en-IN" b="1">
                          <a:latin typeface="Times New Roman" panose="02020603050405020304" pitchFamily="18" charset="0"/>
                          <a:cs typeface="Times New Roman" panose="02020603050405020304" pitchFamily="18" charset="0"/>
                        </a:rPr>
                        <a:t>Data Integration</a:t>
                      </a:r>
                      <a:endParaRPr lang="en-IN">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atin typeface="Times New Roman" panose="02020603050405020304" pitchFamily="18" charset="0"/>
                          <a:cs typeface="Times New Roman" panose="02020603050405020304" pitchFamily="18" charset="0"/>
                        </a:rPr>
                        <a:t>Combines </a:t>
                      </a:r>
                      <a:r>
                        <a:rPr lang="en-US" b="1">
                          <a:latin typeface="Times New Roman" panose="02020603050405020304" pitchFamily="18" charset="0"/>
                          <a:cs typeface="Times New Roman" panose="02020603050405020304" pitchFamily="18" charset="0"/>
                        </a:rPr>
                        <a:t>heart rate</a:t>
                      </a:r>
                      <a:r>
                        <a:rPr lang="en-US">
                          <a:latin typeface="Times New Roman" panose="02020603050405020304" pitchFamily="18" charset="0"/>
                          <a:cs typeface="Times New Roman" panose="02020603050405020304" pitchFamily="18" charset="0"/>
                        </a:rPr>
                        <a:t>, </a:t>
                      </a:r>
                      <a:r>
                        <a:rPr lang="en-US" b="1">
                          <a:latin typeface="Times New Roman" panose="02020603050405020304" pitchFamily="18" charset="0"/>
                          <a:cs typeface="Times New Roman" panose="02020603050405020304" pitchFamily="18" charset="0"/>
                        </a:rPr>
                        <a:t>location</a:t>
                      </a:r>
                      <a:r>
                        <a:rPr lang="en-US">
                          <a:latin typeface="Times New Roman" panose="02020603050405020304" pitchFamily="18" charset="0"/>
                          <a:cs typeface="Times New Roman" panose="02020603050405020304" pitchFamily="18" charset="0"/>
                        </a:rPr>
                        <a:t>, and other contextual data for a comprehensive health profile.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atin typeface="Times New Roman" panose="02020603050405020304" pitchFamily="18" charset="0"/>
                          <a:cs typeface="Times New Roman" panose="02020603050405020304" pitchFamily="18" charset="0"/>
                        </a:rPr>
                        <a:t>Typically collects </a:t>
                      </a:r>
                      <a:r>
                        <a:rPr lang="en-US" b="1">
                          <a:latin typeface="Times New Roman" panose="02020603050405020304" pitchFamily="18" charset="0"/>
                          <a:cs typeface="Times New Roman" panose="02020603050405020304" pitchFamily="18" charset="0"/>
                        </a:rPr>
                        <a:t>isolated data</a:t>
                      </a:r>
                      <a:r>
                        <a:rPr lang="en-US">
                          <a:latin typeface="Times New Roman" panose="02020603050405020304" pitchFamily="18" charset="0"/>
                          <a:cs typeface="Times New Roman" panose="02020603050405020304" pitchFamily="18" charset="0"/>
                        </a:rPr>
                        <a:t> (e.g., heart rate) without additional context.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94623"/>
                  </a:ext>
                </a:extLst>
              </a:tr>
              <a:tr h="729598">
                <a:tc>
                  <a:txBody>
                    <a:bodyPr/>
                    <a:lstStyle/>
                    <a:p>
                      <a:r>
                        <a:rPr lang="en-IN" b="1">
                          <a:latin typeface="Times New Roman" panose="02020603050405020304" pitchFamily="18" charset="0"/>
                          <a:cs typeface="Times New Roman" panose="02020603050405020304" pitchFamily="18" charset="0"/>
                        </a:rPr>
                        <a:t>Proactive Monitoring</a:t>
                      </a:r>
                      <a:endParaRPr lang="en-IN">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atin typeface="Times New Roman" panose="02020603050405020304" pitchFamily="18" charset="0"/>
                          <a:cs typeface="Times New Roman" panose="02020603050405020304" pitchFamily="18" charset="0"/>
                        </a:rPr>
                        <a:t>Enables </a:t>
                      </a:r>
                      <a:r>
                        <a:rPr lang="en-US" b="1">
                          <a:latin typeface="Times New Roman" panose="02020603050405020304" pitchFamily="18" charset="0"/>
                          <a:cs typeface="Times New Roman" panose="02020603050405020304" pitchFamily="18" charset="0"/>
                        </a:rPr>
                        <a:t>proactive health management</a:t>
                      </a:r>
                      <a:r>
                        <a:rPr lang="en-US">
                          <a:latin typeface="Times New Roman" panose="02020603050405020304" pitchFamily="18" charset="0"/>
                          <a:cs typeface="Times New Roman" panose="02020603050405020304" pitchFamily="18" charset="0"/>
                        </a:rPr>
                        <a:t> by forecasting heart rate trends and providing alerts.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dirty="0">
                          <a:latin typeface="Times New Roman" panose="02020603050405020304" pitchFamily="18" charset="0"/>
                          <a:cs typeface="Times New Roman" panose="02020603050405020304" pitchFamily="18" charset="0"/>
                        </a:rPr>
                        <a:t>Primarily provides </a:t>
                      </a:r>
                      <a:r>
                        <a:rPr lang="en-US" b="1" dirty="0">
                          <a:latin typeface="Times New Roman" panose="02020603050405020304" pitchFamily="18" charset="0"/>
                          <a:cs typeface="Times New Roman" panose="02020603050405020304" pitchFamily="18" charset="0"/>
                        </a:rPr>
                        <a:t>reactive monitoring</a:t>
                      </a:r>
                      <a:r>
                        <a:rPr lang="en-US" dirty="0">
                          <a:latin typeface="Times New Roman" panose="02020603050405020304" pitchFamily="18" charset="0"/>
                          <a:cs typeface="Times New Roman" panose="02020603050405020304" pitchFamily="18" charset="0"/>
                        </a:rPr>
                        <a:t> of heart rate, with limited forecasting.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3737487"/>
                  </a:ext>
                </a:extLst>
              </a:tr>
            </a:tbl>
          </a:graphicData>
        </a:graphic>
      </p:graphicFrame>
    </p:spTree>
    <p:extLst>
      <p:ext uri="{BB962C8B-B14F-4D97-AF65-F5344CB8AC3E}">
        <p14:creationId xmlns:p14="http://schemas.microsoft.com/office/powerpoint/2010/main" val="33367264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0027A-1EDA-A3D9-B500-4A1DD5CC3936}"/>
              </a:ext>
            </a:extLst>
          </p:cNvPr>
          <p:cNvSpPr>
            <a:spLocks noGrp="1"/>
          </p:cNvSpPr>
          <p:nvPr>
            <p:ph type="title"/>
          </p:nvPr>
        </p:nvSpPr>
        <p:spPr/>
        <p:txBody>
          <a:bodyPr/>
          <a:lstStyle/>
          <a:p>
            <a:r>
              <a:rPr lang="en-IN" dirty="0"/>
              <a:t>Conclusion</a:t>
            </a:r>
          </a:p>
        </p:txBody>
      </p:sp>
      <p:sp>
        <p:nvSpPr>
          <p:cNvPr id="3" name="Text Placeholder 2">
            <a:extLst>
              <a:ext uri="{FF2B5EF4-FFF2-40B4-BE49-F238E27FC236}">
                <a16:creationId xmlns:a16="http://schemas.microsoft.com/office/drawing/2014/main" id="{15790998-EA8E-E7D4-84DF-ED044E7147D6}"/>
              </a:ext>
            </a:extLst>
          </p:cNvPr>
          <p:cNvSpPr>
            <a:spLocks noGrp="1"/>
          </p:cNvSpPr>
          <p:nvPr>
            <p:ph type="body" idx="1"/>
          </p:nvPr>
        </p:nvSpPr>
        <p:spPr>
          <a:xfrm>
            <a:off x="1610127" y="4532707"/>
            <a:ext cx="7846048" cy="1593931"/>
          </a:xfrm>
        </p:spPr>
        <p:txBody>
          <a:bodyPr/>
          <a:lstStyle/>
          <a:p>
            <a:endParaRPr lang="en-IN" dirty="0"/>
          </a:p>
        </p:txBody>
      </p:sp>
      <p:sp>
        <p:nvSpPr>
          <p:cNvPr id="4" name="Slide Number Placeholder 3">
            <a:extLst>
              <a:ext uri="{FF2B5EF4-FFF2-40B4-BE49-F238E27FC236}">
                <a16:creationId xmlns:a16="http://schemas.microsoft.com/office/drawing/2014/main" id="{33C4D1D8-34F6-F116-B566-3BC8DCA3299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29</a:t>
            </a:fld>
            <a:endParaRPr lang="en-US"/>
          </a:p>
        </p:txBody>
      </p:sp>
      <p:pic>
        <p:nvPicPr>
          <p:cNvPr id="6146" name="Picture 2" descr="Output image">
            <a:extLst>
              <a:ext uri="{FF2B5EF4-FFF2-40B4-BE49-F238E27FC236}">
                <a16:creationId xmlns:a16="http://schemas.microsoft.com/office/drawing/2014/main" id="{95A09F24-0AF4-F97C-DB8A-5774C20994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6685" y="1690688"/>
            <a:ext cx="8581615" cy="5116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55420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A7389-D24B-68F8-4132-D102B9967CB4}"/>
              </a:ext>
            </a:extLst>
          </p:cNvPr>
          <p:cNvSpPr>
            <a:spLocks noGrp="1"/>
          </p:cNvSpPr>
          <p:nvPr>
            <p:ph type="title"/>
          </p:nvPr>
        </p:nvSpPr>
        <p:spPr/>
        <p:txBody>
          <a:bodyPr/>
          <a:lstStyle/>
          <a:p>
            <a:r>
              <a:rPr lang="en-US" dirty="0"/>
              <a:t>Future scope</a:t>
            </a:r>
          </a:p>
        </p:txBody>
      </p:sp>
      <p:sp>
        <p:nvSpPr>
          <p:cNvPr id="4" name="Slide Number Placeholder 3">
            <a:extLst>
              <a:ext uri="{FF2B5EF4-FFF2-40B4-BE49-F238E27FC236}">
                <a16:creationId xmlns:a16="http://schemas.microsoft.com/office/drawing/2014/main" id="{24338E7C-EFC6-5257-F5F1-9FA1FFE3737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30</a:t>
            </a:fld>
            <a:endParaRPr lang="en-US"/>
          </a:p>
        </p:txBody>
      </p:sp>
      <p:sp>
        <p:nvSpPr>
          <p:cNvPr id="5" name="Rectangle 1">
            <a:extLst>
              <a:ext uri="{FF2B5EF4-FFF2-40B4-BE49-F238E27FC236}">
                <a16:creationId xmlns:a16="http://schemas.microsoft.com/office/drawing/2014/main" id="{5F719015-DE17-61C2-B3B7-1FD2777CFBEB}"/>
              </a:ext>
            </a:extLst>
          </p:cNvPr>
          <p:cNvSpPr>
            <a:spLocks noGrp="1" noChangeArrowheads="1"/>
          </p:cNvSpPr>
          <p:nvPr>
            <p:ph type="body" idx="1"/>
          </p:nvPr>
        </p:nvSpPr>
        <p:spPr bwMode="auto">
          <a:xfrm>
            <a:off x="705196" y="1088341"/>
            <a:ext cx="8767144"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Personalized Recommendations: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AI-driven health &amp; fitness plans.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Predictive Analytics: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Early risk detection &amp; trend analysis.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Telemedicine Integration: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Remote consultations &amp; data sharing.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Activity: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Context-aware activity classification.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Mental Health:</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Stress monitoring &amp; AI support.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Chatbot: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Personalized coaching &amp; medical knowledge.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Expanded Sensors: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Multi-sensor data fusion (BP, sleep, etc.).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Gamification: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engagement &amp; community building.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Edge Computing: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On-device processing for speed &amp; privacy. </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58043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6"/>
          <p:cNvSpPr txBox="1">
            <a:spLocks noGrp="1"/>
          </p:cNvSpPr>
          <p:nvPr>
            <p:ph type="title"/>
          </p:nvPr>
        </p:nvSpPr>
        <p:spPr>
          <a:xfrm>
            <a:off x="1672192" y="394447"/>
            <a:ext cx="9614373" cy="160150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800"/>
              <a:buNone/>
            </a:pPr>
            <a:r>
              <a:rPr lang="en-US" sz="3500" i="0" u="none" strike="noStrike" cap="none">
                <a:solidFill>
                  <a:srgbClr val="002060"/>
                </a:solidFill>
                <a:latin typeface="Times New Roman"/>
                <a:ea typeface="Times New Roman"/>
                <a:cs typeface="Times New Roman"/>
                <a:sym typeface="Times New Roman"/>
              </a:rPr>
              <a:t>VIDYA JYOTHI INSTITUTE OF TECHNOLOGY (Autonomous)</a:t>
            </a:r>
            <a:br>
              <a:rPr lang="en-US" sz="3500" i="0" u="none" strike="noStrike" cap="none">
                <a:solidFill>
                  <a:srgbClr val="002060"/>
                </a:solidFill>
                <a:latin typeface="Times New Roman"/>
                <a:ea typeface="Times New Roman"/>
                <a:cs typeface="Times New Roman"/>
                <a:sym typeface="Times New Roman"/>
              </a:rPr>
            </a:br>
            <a:endParaRPr sz="3500">
              <a:solidFill>
                <a:srgbClr val="002060"/>
              </a:solidFill>
            </a:endParaRPr>
          </a:p>
        </p:txBody>
      </p:sp>
      <p:sp>
        <p:nvSpPr>
          <p:cNvPr id="348" name="Google Shape;348;p46"/>
          <p:cNvSpPr txBox="1">
            <a:spLocks noGrp="1"/>
          </p:cNvSpPr>
          <p:nvPr>
            <p:ph type="body" idx="1"/>
          </p:nvPr>
        </p:nvSpPr>
        <p:spPr>
          <a:xfrm>
            <a:off x="908797" y="2458989"/>
            <a:ext cx="10374406" cy="1940023"/>
          </a:xfrm>
          <a:prstGeom prst="rect">
            <a:avLst/>
          </a:prstGeom>
          <a:noFill/>
          <a:ln>
            <a:noFill/>
          </a:ln>
        </p:spPr>
        <p:txBody>
          <a:bodyPr spcFirstLastPara="1" wrap="square" lIns="91425" tIns="45700" rIns="91425" bIns="45700" anchor="ctr" anchorCtr="0">
            <a:noAutofit/>
          </a:bodyPr>
          <a:lstStyle/>
          <a:p>
            <a:pPr marL="114300" lvl="0" indent="0" algn="ctr" rtl="0">
              <a:lnSpc>
                <a:spcPct val="90000"/>
              </a:lnSpc>
              <a:spcBef>
                <a:spcPts val="1000"/>
              </a:spcBef>
              <a:spcAft>
                <a:spcPts val="0"/>
              </a:spcAft>
              <a:buSzPts val="1800"/>
              <a:buNone/>
            </a:pPr>
            <a:r>
              <a:rPr lang="en-US" sz="9000" b="1" cap="none">
                <a:solidFill>
                  <a:schemeClr val="dk1"/>
                </a:solidFill>
                <a:latin typeface="Times New Roman"/>
                <a:ea typeface="Times New Roman"/>
                <a:cs typeface="Times New Roman"/>
                <a:sym typeface="Times New Roman"/>
              </a:rPr>
              <a:t>THANK YOU </a:t>
            </a:r>
            <a:endParaRPr sz="9000" b="1" cap="none">
              <a:solidFill>
                <a:schemeClr val="dk1"/>
              </a:solidFill>
              <a:latin typeface="Times New Roman"/>
              <a:ea typeface="Times New Roman"/>
              <a:cs typeface="Times New Roman"/>
              <a:sym typeface="Times New Roman"/>
            </a:endParaRPr>
          </a:p>
        </p:txBody>
      </p:sp>
      <p:sp>
        <p:nvSpPr>
          <p:cNvPr id="349" name="Google Shape;349;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31</a:t>
            </a:fld>
            <a:endParaRPr/>
          </a:p>
        </p:txBody>
      </p:sp>
      <p:sp>
        <p:nvSpPr>
          <p:cNvPr id="350" name="Google Shape;350;p46"/>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spTree>
  </p:cSld>
  <p:clrMapOvr>
    <a:masterClrMapping/>
  </p:clrMapOvr>
</p:sld>
</file>

<file path=ppt/theme/theme1.xml><?xml version="1.0" encoding="utf-8"?>
<a:theme xmlns:a="http://schemas.openxmlformats.org/drawingml/2006/main" name="R19-Mini-Projects">
  <a:themeElements>
    <a:clrScheme name="Blue Green">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774</TotalTime>
  <Words>2609</Words>
  <Application>Microsoft Office PowerPoint</Application>
  <PresentationFormat>Widescreen</PresentationFormat>
  <Paragraphs>278</Paragraphs>
  <Slides>31</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Noto Sans Symbols</vt:lpstr>
      <vt:lpstr>Times New Roman</vt:lpstr>
      <vt:lpstr>R19-Mini-Projects</vt:lpstr>
      <vt:lpstr>                                                                                         HEART RATE ANALYSIS USING ARIMA WITH LIVE LOCATION AND AI CHATBOT</vt:lpstr>
      <vt:lpstr>Problem Statement</vt:lpstr>
      <vt:lpstr>Abstract</vt:lpstr>
      <vt:lpstr>Literature Survey</vt:lpstr>
      <vt:lpstr>Literature Survey</vt:lpstr>
      <vt:lpstr>Literature Survey -  Base paper</vt:lpstr>
      <vt:lpstr>Literature Survey -  Base paper</vt:lpstr>
      <vt:lpstr>Literature Survey -  Base paper</vt:lpstr>
      <vt:lpstr>Literature Survey -  Base paper</vt:lpstr>
      <vt:lpstr>Existing Systems</vt:lpstr>
      <vt:lpstr>Existing Systems</vt:lpstr>
      <vt:lpstr>Limitations</vt:lpstr>
      <vt:lpstr>Proposed System</vt:lpstr>
      <vt:lpstr>Block diagram</vt:lpstr>
      <vt:lpstr>Dataset sample</vt:lpstr>
      <vt:lpstr>Dataset sample and model graph</vt:lpstr>
      <vt:lpstr>Methodologies</vt:lpstr>
      <vt:lpstr>Methodologies</vt:lpstr>
      <vt:lpstr>Methodologies</vt:lpstr>
      <vt:lpstr>Methodologies</vt:lpstr>
      <vt:lpstr>Methodologies</vt:lpstr>
      <vt:lpstr>Methodologies</vt:lpstr>
      <vt:lpstr>Implementation</vt:lpstr>
      <vt:lpstr>Implementation</vt:lpstr>
      <vt:lpstr>Implementation </vt:lpstr>
      <vt:lpstr>Formulas </vt:lpstr>
      <vt:lpstr>Performance Metrics</vt:lpstr>
      <vt:lpstr>conclusion</vt:lpstr>
      <vt:lpstr>Conclusion</vt:lpstr>
      <vt:lpstr>Future scope</vt:lpstr>
      <vt:lpstr>VIDYA JYOTHI INSTITUTE OF TECHNOLOGY (Autonomous)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Ensemble Model: CNN-LSTM for Image Caption Generation</dc:title>
  <dc:creator>asus</dc:creator>
  <cp:lastModifiedBy>Vaishnavi Samkula</cp:lastModifiedBy>
  <cp:revision>36</cp:revision>
  <dcterms:created xsi:type="dcterms:W3CDTF">2022-08-08T09:31:23Z</dcterms:created>
  <dcterms:modified xsi:type="dcterms:W3CDTF">2025-05-06T04:50:11Z</dcterms:modified>
</cp:coreProperties>
</file>